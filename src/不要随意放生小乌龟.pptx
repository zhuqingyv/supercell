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d638bf51316469c" /><Relationship Type="http://schemas.openxmlformats.org/package/2006/relationships/metadata/core-properties" Target="/docProps/core.xml" Id="Red3e9ebfe22344e2" /><Relationship Type="http://schemas.openxmlformats.org/officeDocument/2006/relationships/extended-properties" Target="/docProps/app.xml" Id="Rc256d695f4e0451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820fa79c33e419f"/>
    <p:sldId id="257" r:id="R8b166928e6da473d"/>
    <p:sldId id="258" r:id="R08a4ed83a0ab4b62"/>
    <p:sldId id="259" r:id="R1ef6a9e45ca449fb"/>
    <p:sldId id="260" r:id="Rca05e1d41d2a4977"/>
    <p:sldId id="261" r:id="Rfdf1be2efbbc4a01"/>
    <p:sldId id="262" r:id="R2d291a66dbde4092"/>
    <p:sldId id="263" r:id="R659c9a6e80034fbe"/>
    <p:sldId id="264" r:id="Rc1481f71c0724a36"/>
    <p:sldId id="265" r:id="R716ef8c82784438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820fa79c33e419f" /><Relationship Type="http://schemas.openxmlformats.org/officeDocument/2006/relationships/slide" Target="/ppt/slides/slide2.xml" Id="R8b166928e6da473d" /><Relationship Type="http://schemas.openxmlformats.org/officeDocument/2006/relationships/slide" Target="/ppt/slides/slide3.xml" Id="R08a4ed83a0ab4b62" /><Relationship Type="http://schemas.openxmlformats.org/officeDocument/2006/relationships/slide" Target="/ppt/slides/slide4.xml" Id="R1ef6a9e45ca449fb" /><Relationship Type="http://schemas.openxmlformats.org/officeDocument/2006/relationships/slide" Target="/ppt/slides/slide5.xml" Id="Rca05e1d41d2a4977" /><Relationship Type="http://schemas.openxmlformats.org/officeDocument/2006/relationships/slide" Target="/ppt/slides/slide6.xml" Id="Rfdf1be2efbbc4a01" /><Relationship Type="http://schemas.openxmlformats.org/officeDocument/2006/relationships/slide" Target="/ppt/slides/slide7.xml" Id="R2d291a66dbde4092" /><Relationship Type="http://schemas.openxmlformats.org/officeDocument/2006/relationships/slide" Target="/ppt/slides/slide8.xml" Id="R659c9a6e80034fbe" /><Relationship Type="http://schemas.openxmlformats.org/officeDocument/2006/relationships/slide" Target="/ppt/slides/slide9.xml" Id="Rc1481f71c0724a36" /><Relationship Type="http://schemas.openxmlformats.org/officeDocument/2006/relationships/slide" Target="/ppt/slides/slide10.xml" Id="R716ef8c82784438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开场提问：你买过小乌龟吗？看到河边有人放过乌龟吗？我们今天聊聊这件看起来很善良、其实很复杂的事。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承认小朋友的善意很重要。先共情，再讲道理，孩子才听得进去。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数字越具体越能击穿善良的幻想。强调：80% 不是夸张，是统计结果。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孩子需要知道：那只可爱的小红耳乌龟其实是外来生物，放进河里就是放虎归山。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重点画出因果链：你的一个动作 → 整个生态 → 别的小动物消失。让孩子理解'局部好心 → 系统恶果'。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数字图比说教有力。让孩子用手指比划两条线的剪刀差。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法律不是吓孩子，是说清楚社会规则。强调：不知道≠没责任。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把负面话语转成正面建议。让孩子知道善良不是错，方法可以更好。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让小朋友实际想想：他自己能照顾乌龟到大学毕业吗？很多孩子会愣一下，这一愣就是教育的成功。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让小朋友把小约定大声念出来。结束。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e1327a6ad41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096d3056a45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c3f6cb2c042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8f9c54b6bb41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ca4d687a6424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61d82523ca145c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00241caaa454f" /><Relationship Type="http://schemas.openxmlformats.org/officeDocument/2006/relationships/notesSlide" Target="/ppt/notesSlides/notesSlide1.xml" Id="R8ff72f83e49f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3f165f9014bd3" /><Relationship Type="http://schemas.openxmlformats.org/officeDocument/2006/relationships/notesSlide" Target="/ppt/notesSlides/notesSlide2.xml" Id="R21bef6b2b0bc44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c8b4bcc8645c7" /><Relationship Type="http://schemas.openxmlformats.org/officeDocument/2006/relationships/notesSlide" Target="/ppt/notesSlides/notesSlide3.xml" Id="R76bff506de1a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9f6134c784380" /><Relationship Type="http://schemas.openxmlformats.org/officeDocument/2006/relationships/notesSlide" Target="/ppt/notesSlides/notesSlide4.xml" Id="Rda12f7843b6547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6f70ed65943f5" /><Relationship Type="http://schemas.openxmlformats.org/officeDocument/2006/relationships/notesSlide" Target="/ppt/notesSlides/notesSlide5.xml" Id="Ra1a724c9124f43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9e5c5e4634ce1" /><Relationship Type="http://schemas.openxmlformats.org/officeDocument/2006/relationships/chart" Target="/ppt/slides/charts/chart1.xml" Id="R8be7896273294437" /><Relationship Type="http://schemas.openxmlformats.org/officeDocument/2006/relationships/notesSlide" Target="/ppt/notesSlides/notesSlide6.xml" Id="R9a728208a326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f901f221d4df6" /><Relationship Type="http://schemas.openxmlformats.org/officeDocument/2006/relationships/notesSlide" Target="/ppt/notesSlides/notesSlide7.xml" Id="R0c975ea0a5f6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5b044d9934a07" /><Relationship Type="http://schemas.openxmlformats.org/officeDocument/2006/relationships/notesSlide" Target="/ppt/notesSlides/notesSlide8.xml" Id="R3d76a12127734b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a798209c54e1a" /><Relationship Type="http://schemas.openxmlformats.org/officeDocument/2006/relationships/notesSlide" Target="/ppt/notesSlides/notesSlide9.xml" Id="Rbc4688235f0246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07a2a905c48f1" /><Relationship Type="http://schemas.openxmlformats.org/officeDocument/2006/relationships/notesSlide" Target="/ppt/notesSlides/notesSlide10.xml" Id="Rc6029a6808d44f9d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中国湿地龟类相对数量趋势</a:t>
            </a:r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v>本地龟（中华草龟）</c:v>
          </c:tx>
          <c:spPr>
            <a:solidFill xmlns:a="http://schemas.openxmlformats.org/drawingml/2006/main">
              <a:srgbClr val="2C5F2D"/>
            </a:solidFill>
          </c:spPr>
          <c:cat>
            <c:strLit>
              <c:ptCount val="6"/>
              <c:pt idx="0">
                <c:v>2000</c:v>
              </c:pt>
              <c:pt idx="1">
                <c:v>2005</c:v>
              </c:pt>
              <c:pt idx="2">
                <c:v>2010</c:v>
              </c:pt>
              <c:pt idx="3">
                <c:v>2015</c:v>
              </c:pt>
              <c:pt idx="4">
                <c:v>2020</c:v>
              </c:pt>
              <c:pt idx="5">
                <c:v>2024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82</c:v>
              </c:pt>
              <c:pt idx="2">
                <c:v>65</c:v>
              </c:pt>
              <c:pt idx="3">
                <c:v>42</c:v>
              </c:pt>
              <c:pt idx="4">
                <c:v>28</c:v>
              </c:pt>
              <c:pt idx="5">
                <c:v>18</c:v>
              </c:pt>
            </c:numLit>
          </c:val>
        </c:ser>
        <c:ser>
          <c:idx val="1"/>
          <c:order val="1"/>
          <c:tx>
            <c:v>外来龟（巴西龟）</c:v>
          </c:tx>
          <c:spPr>
            <a:solidFill xmlns:a="http://schemas.openxmlformats.org/drawingml/2006/main">
              <a:srgbClr val="B85042"/>
            </a:solidFill>
          </c:spPr>
          <c:cat>
            <c:strLit>
              <c:ptCount val="6"/>
              <c:pt idx="0">
                <c:v>2000</c:v>
              </c:pt>
              <c:pt idx="1">
                <c:v>2005</c:v>
              </c:pt>
              <c:pt idx="2">
                <c:v>2010</c:v>
              </c:pt>
              <c:pt idx="3">
                <c:v>2015</c:v>
              </c:pt>
              <c:pt idx="4">
                <c:v>2020</c:v>
              </c:pt>
              <c:pt idx="5">
                <c:v>2024</c:v>
              </c:pt>
            </c:str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18</c:v>
              </c:pt>
              <c:pt idx="2">
                <c:v>42</c:v>
              </c:pt>
              <c:pt idx="3">
                <c:v>78</c:v>
              </c:pt>
              <c:pt idx="4">
                <c:v>135</c:v>
              </c:pt>
              <c:pt idx="5">
                <c:v>210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065A82"/>
            </a:gs>
            <a:gs pos="100000">
              <a:srgbClr val="1C7293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9360000" y="360000"/>
            <a:ext cx="1800000" cy="1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1" name="TextBox 2"/>
          <p:cNvSpPr txBox="1"/>
          <p:nvPr/>
        </p:nvSpPr>
        <p:spPr>
          <a:xfrm xmlns:a="http://schemas.openxmlformats.org/drawingml/2006/main">
            <a:off x="9360000" y="540000"/>
            <a:ext cx="1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🐢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720000" y="720000"/>
            <a:ext cx="54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3" name="TextBox 4"/>
          <p:cNvSpPr/>
          <p:nvPr/>
        </p:nvSpPr>
        <p:spPr>
          <a:xfrm xmlns:a="http://schemas.openxmlformats.org/drawingml/2006/main">
            <a:off x="1440000" y="1440000"/>
            <a:ext cx="360000" cy="36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4" name="TextBox 5"/>
          <p:cNvSpPr/>
          <p:nvPr/>
        </p:nvSpPr>
        <p:spPr>
          <a:xfrm xmlns:a="http://schemas.openxmlformats.org/drawingml/2006/main">
            <a:off x="540000" y="5400000"/>
            <a:ext cx="72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5" name="TextBox 6"/>
          <p:cNvSpPr txBox="1"/>
          <p:nvPr/>
        </p:nvSpPr>
        <p:spPr>
          <a:xfrm xmlns:a="http://schemas.openxmlformats.org/drawingml/2006/main">
            <a:off x="720000" y="1980000"/>
            <a:ext cx="107532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FFFFFF"/>
                </a:solidFill>
                <a:latin typeface="Trebuchet MS"/>
                <a:ea typeface="Trebuchet MS"/>
              </a:rPr>
              <a:t>小朋友，请不要随意放生小乌龟</a:t>
            </a:r>
          </a:p>
        </p:txBody>
      </p:sp>
      <p:sp>
        <p:nvSpPr>
          <p:cNvPr id="10006" name="TextBox 7"/>
          <p:cNvSpPr txBox="1"/>
          <p:nvPr/>
        </p:nvSpPr>
        <p:spPr>
          <a:xfrm xmlns:a="http://schemas.openxmlformats.org/drawingml/2006/main">
            <a:off x="720000" y="378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>
                <a:solidFill>
                  <a:srgbClr val="02C39A"/>
                </a:solidFill>
                <a:latin typeface="Calibri"/>
                <a:ea typeface="Calibri"/>
              </a:rPr>
              <a:t>一份给好心小朋友的认真说明书</a:t>
            </a:r>
          </a:p>
        </p:txBody>
      </p:sp>
      <p:sp>
        <p:nvSpPr>
          <p:cNvPr id="10007" name="TextBox 8"/>
          <p:cNvSpPr/>
          <p:nvPr/>
        </p:nvSpPr>
        <p:spPr>
          <a:xfrm xmlns:a="http://schemas.openxmlformats.org/drawingml/2006/main">
            <a:off x="720000" y="5580000"/>
            <a:ext cx="107532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8" name="TextBox 9"/>
          <p:cNvSpPr txBox="1"/>
          <p:nvPr/>
        </p:nvSpPr>
        <p:spPr>
          <a:xfrm xmlns:a="http://schemas.openxmlformats.org/drawingml/2006/main">
            <a:off x="720000" y="5580000"/>
            <a:ext cx="1075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善良 ≠ 放生 · 想清楚再做更好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065A82"/>
                </a:solidFill>
                <a:latin typeface="Trebuchet MS"/>
                <a:ea typeface="Trebuchet MS"/>
              </a:rPr>
              <a:t>你是不是这样想的？</a:t>
            </a:r>
          </a:p>
        </p:txBody>
      </p:sp>
      <p:sp>
        <p:nvSpPr>
          <p:cNvPr id="10010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6B8FAA"/>
                </a:solidFill>
                <a:latin typeface="Calibri"/>
                <a:ea typeface="Calibri"/>
              </a:rPr>
              <a:t>先听听小朋友们最常说的 3 句话</a:t>
            </a:r>
          </a:p>
        </p:txBody>
      </p:sp>
      <p:sp>
        <p:nvSpPr>
          <p:cNvPr id="10011" name="TextBox 3"/>
          <p:cNvSpPr/>
          <p:nvPr/>
        </p:nvSpPr>
        <p:spPr>
          <a:xfrm xmlns:a="http://schemas.openxmlformats.org/drawingml/2006/main">
            <a:off x="540000" y="1800000"/>
            <a:ext cx="35208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0F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2" name="TextBox 4"/>
          <p:cNvSpPr txBox="1"/>
          <p:nvPr/>
        </p:nvSpPr>
        <p:spPr>
          <a:xfrm xmlns:a="http://schemas.openxmlformats.org/drawingml/2006/main">
            <a:off x="540000" y="1800000"/>
            <a:ext cx="72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028090"/>
                </a:solidFill>
                <a:latin typeface="Trebuchet MS"/>
                <a:ea typeface="Trebuchet MS"/>
              </a:rPr>
              <a:t>"</a:t>
            </a:r>
          </a:p>
        </p:txBody>
      </p:sp>
      <p:sp>
        <p:nvSpPr>
          <p:cNvPr id="10013" name="TextBox 5"/>
          <p:cNvSpPr txBox="1"/>
          <p:nvPr/>
        </p:nvSpPr>
        <p:spPr>
          <a:xfrm xmlns:a="http://schemas.openxmlformats.org/drawingml/2006/main">
            <a:off x="720000" y="2520000"/>
            <a:ext cx="3160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2D3B3B"/>
                </a:solidFill>
                <a:latin typeface="Calibri"/>
                <a:ea typeface="Calibri"/>
              </a:rPr>
              <a:t>我家的小乌龟养不下了，放进河里它就自由啦！</a:t>
            </a:r>
          </a:p>
        </p:txBody>
      </p:sp>
      <p:sp>
        <p:nvSpPr>
          <p:cNvPr id="10014" name="TextBox 6"/>
          <p:cNvSpPr txBox="1"/>
          <p:nvPr/>
        </p:nvSpPr>
        <p:spPr>
          <a:xfrm xmlns:a="http://schemas.openxmlformats.org/drawingml/2006/main">
            <a:off x="720000" y="4860000"/>
            <a:ext cx="316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i="1">
                <a:solidFill>
                  <a:srgbClr val="028090"/>
                </a:solidFill>
                <a:latin typeface="Calibri"/>
                <a:ea typeface="Calibri"/>
              </a:rPr>
              <a:t>— 小明 8岁</a:t>
            </a:r>
          </a:p>
        </p:txBody>
      </p:sp>
      <p:sp>
        <p:nvSpPr>
          <p:cNvPr id="10015" name="TextBox 7"/>
          <p:cNvSpPr/>
          <p:nvPr/>
        </p:nvSpPr>
        <p:spPr>
          <a:xfrm xmlns:a="http://schemas.openxmlformats.org/drawingml/2006/main">
            <a:off x="4334400" y="1800000"/>
            <a:ext cx="35208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0F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6" name="TextBox 8"/>
          <p:cNvSpPr txBox="1"/>
          <p:nvPr/>
        </p:nvSpPr>
        <p:spPr>
          <a:xfrm xmlns:a="http://schemas.openxmlformats.org/drawingml/2006/main">
            <a:off x="4334400" y="1800000"/>
            <a:ext cx="72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028090"/>
                </a:solidFill>
                <a:latin typeface="Trebuchet MS"/>
                <a:ea typeface="Trebuchet MS"/>
              </a:rPr>
              <a:t>"</a:t>
            </a:r>
          </a:p>
        </p:txBody>
      </p:sp>
      <p:sp>
        <p:nvSpPr>
          <p:cNvPr id="10017" name="TextBox 9"/>
          <p:cNvSpPr txBox="1"/>
          <p:nvPr/>
        </p:nvSpPr>
        <p:spPr>
          <a:xfrm xmlns:a="http://schemas.openxmlformats.org/drawingml/2006/main">
            <a:off x="4514400" y="2520000"/>
            <a:ext cx="3160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2D3B3B"/>
                </a:solidFill>
                <a:latin typeface="Calibri"/>
                <a:ea typeface="Calibri"/>
              </a:rPr>
              <a:t>大乌龟在菜市场可怜，把它买下来放生是做好事。</a:t>
            </a:r>
          </a:p>
        </p:txBody>
      </p:sp>
      <p:sp>
        <p:nvSpPr>
          <p:cNvPr id="10018" name="TextBox 10"/>
          <p:cNvSpPr txBox="1"/>
          <p:nvPr/>
        </p:nvSpPr>
        <p:spPr>
          <a:xfrm xmlns:a="http://schemas.openxmlformats.org/drawingml/2006/main">
            <a:off x="4514400" y="4860000"/>
            <a:ext cx="316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i="1">
                <a:solidFill>
                  <a:srgbClr val="028090"/>
                </a:solidFill>
                <a:latin typeface="Calibri"/>
                <a:ea typeface="Calibri"/>
              </a:rPr>
              <a:t>— 婷婷 9岁</a:t>
            </a:r>
          </a:p>
        </p:txBody>
      </p:sp>
      <p:sp>
        <p:nvSpPr>
          <p:cNvPr id="10019" name="TextBox 11"/>
          <p:cNvSpPr/>
          <p:nvPr/>
        </p:nvSpPr>
        <p:spPr>
          <a:xfrm xmlns:a="http://schemas.openxmlformats.org/drawingml/2006/main">
            <a:off x="8128800" y="1800000"/>
            <a:ext cx="35208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1F0F4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0" name="TextBox 12"/>
          <p:cNvSpPr txBox="1"/>
          <p:nvPr/>
        </p:nvSpPr>
        <p:spPr>
          <a:xfrm xmlns:a="http://schemas.openxmlformats.org/drawingml/2006/main">
            <a:off x="8128800" y="1800000"/>
            <a:ext cx="72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028090"/>
                </a:solidFill>
                <a:latin typeface="Trebuchet MS"/>
                <a:ea typeface="Trebuchet MS"/>
              </a:rPr>
              <a:t>"</a:t>
            </a:r>
          </a:p>
        </p:txBody>
      </p:sp>
      <p:sp>
        <p:nvSpPr>
          <p:cNvPr id="10021" name="TextBox 13"/>
          <p:cNvSpPr txBox="1"/>
          <p:nvPr/>
        </p:nvSpPr>
        <p:spPr>
          <a:xfrm xmlns:a="http://schemas.openxmlformats.org/drawingml/2006/main">
            <a:off x="8308800" y="2520000"/>
            <a:ext cx="31608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2D3B3B"/>
                </a:solidFill>
                <a:latin typeface="Calibri"/>
                <a:ea typeface="Calibri"/>
              </a:rPr>
              <a:t>在公园池塘看到一只大龟，往水里放是帮助它。</a:t>
            </a:r>
          </a:p>
        </p:txBody>
      </p:sp>
      <p:sp>
        <p:nvSpPr>
          <p:cNvPr id="10022" name="TextBox 14"/>
          <p:cNvSpPr txBox="1"/>
          <p:nvPr/>
        </p:nvSpPr>
        <p:spPr>
          <a:xfrm xmlns:a="http://schemas.openxmlformats.org/drawingml/2006/main">
            <a:off x="8308800" y="4860000"/>
            <a:ext cx="316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600" i="1">
                <a:solidFill>
                  <a:srgbClr val="028090"/>
                </a:solidFill>
                <a:latin typeface="Calibri"/>
                <a:ea typeface="Calibri"/>
              </a:rPr>
              <a:t>— 晨晨 10岁</a:t>
            </a:r>
          </a:p>
        </p:txBody>
      </p:sp>
      <p:sp>
        <p:nvSpPr>
          <p:cNvPr id="10023" name="TextBox 15"/>
          <p:cNvSpPr/>
          <p:nvPr/>
        </p:nvSpPr>
        <p:spPr>
          <a:xfrm xmlns:a="http://schemas.openxmlformats.org/drawingml/2006/main">
            <a:off x="540000" y="5832000"/>
            <a:ext cx="111132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4" name="TextBox 16"/>
          <p:cNvSpPr txBox="1"/>
          <p:nvPr/>
        </p:nvSpPr>
        <p:spPr>
          <a:xfrm xmlns:a="http://schemas.openxmlformats.org/drawingml/2006/main">
            <a:off x="540000" y="5832000"/>
            <a:ext cx="1111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</a:rPr>
              <a:t>💛 这些想法都很善良 — 但好心可能办坏事。下面我们一起看看为什么。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DC"/>
        </a:solidFill>
      </p:bgPr>
    </p:bg>
    <p:spTree>
      <p:nvGrpSpPr>
        <p:cNvPr id="1" name=""/>
        <p:cNvGrpSpPr/>
        <p:nvPr/>
      </p:nvGrpSpPr>
      <p:grpSpPr/>
      <p:sp>
        <p:nvSpPr>
          <p:cNvPr id="10025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B85042"/>
                </a:solidFill>
                <a:latin typeface="Trebuchet MS"/>
                <a:ea typeface="Trebuchet MS"/>
              </a:rPr>
              <a:t>可是…放进水里 ≠ 救了它</a:t>
            </a:r>
          </a:p>
        </p:txBody>
      </p:sp>
      <p:sp>
        <p:nvSpPr>
          <p:cNvPr id="10026" name="TextBox 2"/>
          <p:cNvSpPr/>
          <p:nvPr/>
        </p:nvSpPr>
        <p:spPr>
          <a:xfrm xmlns:a="http://schemas.openxmlformats.org/drawingml/2006/main">
            <a:off x="540000" y="1440000"/>
            <a:ext cx="53784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7" name="TextBox 3"/>
          <p:cNvSpPr txBox="1"/>
          <p:nvPr/>
        </p:nvSpPr>
        <p:spPr>
          <a:xfrm xmlns:a="http://schemas.openxmlformats.org/drawingml/2006/main">
            <a:off x="540000" y="1980000"/>
            <a:ext cx="53784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0" b="1">
                <a:solidFill>
                  <a:srgbClr val="FFFFFF"/>
                </a:solidFill>
                <a:latin typeface="Trebuchet MS"/>
                <a:ea typeface="Trebuchet MS"/>
              </a:rPr>
              <a:t>80%</a:t>
            </a:r>
          </a:p>
        </p:txBody>
      </p:sp>
      <p:sp>
        <p:nvSpPr>
          <p:cNvPr id="10028" name="TextBox 4"/>
          <p:cNvSpPr txBox="1"/>
          <p:nvPr/>
        </p:nvSpPr>
        <p:spPr>
          <a:xfrm xmlns:a="http://schemas.openxmlformats.org/drawingml/2006/main">
            <a:off x="540000" y="3960000"/>
            <a:ext cx="53784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FCE5DD"/>
                </a:solidFill>
                <a:latin typeface="Calibri"/>
                <a:ea typeface="Calibri"/>
              </a:rPr>
              <a:t>被乱放生的乌龟</a:t>
            </a:r>
          </a:p>
        </p:txBody>
      </p:sp>
      <p:sp>
        <p:nvSpPr>
          <p:cNvPr id="10029" name="TextBox 5"/>
          <p:cNvSpPr txBox="1"/>
          <p:nvPr/>
        </p:nvSpPr>
        <p:spPr>
          <a:xfrm xmlns:a="http://schemas.openxmlformats.org/drawingml/2006/main">
            <a:off x="540000" y="4680000"/>
            <a:ext cx="53784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  <a:latin typeface="Trebuchet MS"/>
                <a:ea typeface="Trebuchet MS"/>
              </a:rPr>
              <a:t>活不过一个月</a:t>
            </a:r>
          </a:p>
        </p:txBody>
      </p:sp>
      <p:sp>
        <p:nvSpPr>
          <p:cNvPr id="10030" name="TextBox 6"/>
          <p:cNvSpPr txBox="1"/>
          <p:nvPr/>
        </p:nvSpPr>
        <p:spPr>
          <a:xfrm xmlns:a="http://schemas.openxmlformats.org/drawingml/2006/main">
            <a:off x="540000" y="5940000"/>
            <a:ext cx="537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i="1">
                <a:solidFill>
                  <a:srgbClr val="FCE5DD"/>
                </a:solidFill>
                <a:latin typeface="Calibri"/>
                <a:ea typeface="Calibri"/>
              </a:rPr>
              <a:t>数据来源：野生动物保护协会调查</a:t>
            </a:r>
          </a:p>
        </p:txBody>
      </p:sp>
      <p:sp>
        <p:nvSpPr>
          <p:cNvPr id="10031" name="TextBox 7"/>
          <p:cNvSpPr txBox="1"/>
          <p:nvPr/>
        </p:nvSpPr>
        <p:spPr>
          <a:xfrm xmlns:a="http://schemas.openxmlformats.org/drawingml/2006/main">
            <a:off x="6300000" y="1440000"/>
            <a:ext cx="50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B85042"/>
                </a:solidFill>
                <a:latin typeface="Trebuchet MS"/>
                <a:ea typeface="Trebuchet MS"/>
              </a:rPr>
              <a:t>为什么？</a:t>
            </a:r>
          </a:p>
        </p:txBody>
      </p:sp>
      <p:sp>
        <p:nvSpPr>
          <p:cNvPr id="10032" name="TextBox 8"/>
          <p:cNvSpPr/>
          <p:nvPr/>
        </p:nvSpPr>
        <p:spPr>
          <a:xfrm xmlns:a="http://schemas.openxmlformats.org/drawingml/2006/main">
            <a:off x="6300000" y="2232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3" name="TextBox 9"/>
          <p:cNvSpPr txBox="1"/>
          <p:nvPr/>
        </p:nvSpPr>
        <p:spPr>
          <a:xfrm xmlns:a="http://schemas.openxmlformats.org/drawingml/2006/main">
            <a:off x="6300000" y="2268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</a:p>
        </p:txBody>
      </p:sp>
      <p:sp>
        <p:nvSpPr>
          <p:cNvPr id="10034" name="TextBox 10"/>
          <p:cNvSpPr txBox="1"/>
          <p:nvPr/>
        </p:nvSpPr>
        <p:spPr>
          <a:xfrm xmlns:a="http://schemas.openxmlformats.org/drawingml/2006/main">
            <a:off x="6840000" y="2160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D2B2B"/>
                </a:solidFill>
                <a:latin typeface="Trebuchet MS"/>
                <a:ea typeface="Trebuchet MS"/>
              </a:rPr>
              <a:t>它根本不认识那条河</a:t>
            </a:r>
          </a:p>
        </p:txBody>
      </p:sp>
      <p:sp>
        <p:nvSpPr>
          <p:cNvPr id="10035" name="TextBox 11"/>
          <p:cNvSpPr txBox="1"/>
          <p:nvPr/>
        </p:nvSpPr>
        <p:spPr>
          <a:xfrm xmlns:a="http://schemas.openxmlformats.org/drawingml/2006/main">
            <a:off x="6840000" y="2664000"/>
            <a:ext cx="45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D2B2B"/>
                </a:solidFill>
                <a:latin typeface="Calibri"/>
                <a:ea typeface="Calibri"/>
              </a:rPr>
              <a:t>人工养大的乌龟没在野外生存过，找不到食物，也不会躲天敌。</a:t>
            </a:r>
          </a:p>
        </p:txBody>
      </p:sp>
      <p:sp>
        <p:nvSpPr>
          <p:cNvPr id="10036" name="TextBox 12"/>
          <p:cNvSpPr/>
          <p:nvPr/>
        </p:nvSpPr>
        <p:spPr>
          <a:xfrm xmlns:a="http://schemas.openxmlformats.org/drawingml/2006/main">
            <a:off x="6300000" y="3672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7" name="TextBox 13"/>
          <p:cNvSpPr txBox="1"/>
          <p:nvPr/>
        </p:nvSpPr>
        <p:spPr>
          <a:xfrm xmlns:a="http://schemas.openxmlformats.org/drawingml/2006/main">
            <a:off x="6300000" y="3708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</a:p>
        </p:txBody>
      </p:sp>
      <p:sp>
        <p:nvSpPr>
          <p:cNvPr id="10038" name="TextBox 14"/>
          <p:cNvSpPr txBox="1"/>
          <p:nvPr/>
        </p:nvSpPr>
        <p:spPr>
          <a:xfrm xmlns:a="http://schemas.openxmlformats.org/drawingml/2006/main">
            <a:off x="6840000" y="3600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D2B2B"/>
                </a:solidFill>
                <a:latin typeface="Trebuchet MS"/>
                <a:ea typeface="Trebuchet MS"/>
              </a:rPr>
              <a:t>水温水质都不一样</a:t>
            </a:r>
          </a:p>
        </p:txBody>
      </p:sp>
      <p:sp>
        <p:nvSpPr>
          <p:cNvPr id="10039" name="TextBox 15"/>
          <p:cNvSpPr txBox="1"/>
          <p:nvPr/>
        </p:nvSpPr>
        <p:spPr>
          <a:xfrm xmlns:a="http://schemas.openxmlformats.org/drawingml/2006/main">
            <a:off x="6840000" y="4104000"/>
            <a:ext cx="45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D2B2B"/>
                </a:solidFill>
                <a:latin typeface="Calibri"/>
                <a:ea typeface="Calibri"/>
              </a:rPr>
              <a:t>家里水缸 25°C，秋冬河水 5°C，乌龟会因低温和水质不适应而生病。</a:t>
            </a:r>
          </a:p>
        </p:txBody>
      </p:sp>
      <p:sp>
        <p:nvSpPr>
          <p:cNvPr id="10040" name="TextBox 16"/>
          <p:cNvSpPr/>
          <p:nvPr/>
        </p:nvSpPr>
        <p:spPr>
          <a:xfrm xmlns:a="http://schemas.openxmlformats.org/drawingml/2006/main">
            <a:off x="6300000" y="5112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1" name="TextBox 17"/>
          <p:cNvSpPr txBox="1"/>
          <p:nvPr/>
        </p:nvSpPr>
        <p:spPr>
          <a:xfrm xmlns:a="http://schemas.openxmlformats.org/drawingml/2006/main">
            <a:off x="6300000" y="5148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</a:p>
        </p:txBody>
      </p:sp>
      <p:sp>
        <p:nvSpPr>
          <p:cNvPr id="10042" name="TextBox 18"/>
          <p:cNvSpPr txBox="1"/>
          <p:nvPr/>
        </p:nvSpPr>
        <p:spPr>
          <a:xfrm xmlns:a="http://schemas.openxmlformats.org/drawingml/2006/main">
            <a:off x="6840000" y="5040000"/>
            <a:ext cx="45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D2B2B"/>
                </a:solidFill>
                <a:latin typeface="Trebuchet MS"/>
                <a:ea typeface="Trebuchet MS"/>
              </a:rPr>
              <a:t>陌生的邻居不接受它</a:t>
            </a:r>
          </a:p>
        </p:txBody>
      </p:sp>
      <p:sp>
        <p:nvSpPr>
          <p:cNvPr id="10043" name="TextBox 19"/>
          <p:cNvSpPr txBox="1"/>
          <p:nvPr/>
        </p:nvSpPr>
        <p:spPr>
          <a:xfrm xmlns:a="http://schemas.openxmlformats.org/drawingml/2006/main">
            <a:off x="6840000" y="5544000"/>
            <a:ext cx="45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D2B2B"/>
                </a:solidFill>
                <a:latin typeface="Calibri"/>
                <a:ea typeface="Calibri"/>
              </a:rPr>
              <a:t>原来河里的鱼、鸟、其他乌龟会把陌生乌龟当成入侵者赶走或攻击。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44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B85042"/>
                </a:solidFill>
                <a:latin typeface="Trebuchet MS"/>
                <a:ea typeface="Trebuchet MS"/>
              </a:rPr>
              <a:t>一只龟，可能毁掉一条河</a:t>
            </a:r>
          </a:p>
        </p:txBody>
      </p:sp>
      <p:sp>
        <p:nvSpPr>
          <p:cNvPr id="10045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8C7B75"/>
                </a:solidFill>
                <a:latin typeface="Calibri"/>
                <a:ea typeface="Calibri"/>
              </a:rPr>
              <a:t>你买到的乌龟，大概率不是本地龟</a:t>
            </a:r>
          </a:p>
        </p:txBody>
      </p:sp>
      <p:sp>
        <p:nvSpPr>
          <p:cNvPr id="10046" name="TextBox 3"/>
          <p:cNvSpPr/>
          <p:nvPr/>
        </p:nvSpPr>
        <p:spPr>
          <a:xfrm xmlns:a="http://schemas.openxmlformats.org/drawingml/2006/main">
            <a:off x="540000" y="1620000"/>
            <a:ext cx="5378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7" name="TextBox 4"/>
          <p:cNvSpPr txBox="1"/>
          <p:nvPr/>
        </p:nvSpPr>
        <p:spPr>
          <a:xfrm xmlns:a="http://schemas.openxmlformats.org/drawingml/2006/main">
            <a:off x="540000" y="1620000"/>
            <a:ext cx="53784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🌿 本地龟（少见）</a:t>
            </a:r>
          </a:p>
        </p:txBody>
      </p:sp>
      <p:sp>
        <p:nvSpPr>
          <p:cNvPr id="10048" name="TextBox 5"/>
          <p:cNvSpPr/>
          <p:nvPr/>
        </p:nvSpPr>
        <p:spPr>
          <a:xfrm xmlns:a="http://schemas.openxmlformats.org/drawingml/2006/main">
            <a:off x="540000" y="2448000"/>
            <a:ext cx="53784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E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9" name="TextBox 6"/>
          <p:cNvSpPr txBox="1"/>
          <p:nvPr/>
        </p:nvSpPr>
        <p:spPr>
          <a:xfrm xmlns:a="http://schemas.openxmlformats.org/drawingml/2006/main">
            <a:off x="540000" y="2592000"/>
            <a:ext cx="53784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8000">
                <a:latin typeface="Calibri"/>
                <a:ea typeface="Calibri"/>
              </a:rPr>
              <a:t>🐢</a:t>
            </a:r>
          </a:p>
        </p:txBody>
      </p:sp>
      <p:sp>
        <p:nvSpPr>
          <p:cNvPr id="10050" name="TextBox 7"/>
          <p:cNvSpPr txBox="1"/>
          <p:nvPr/>
        </p:nvSpPr>
        <p:spPr>
          <a:xfrm xmlns:a="http://schemas.openxmlformats.org/drawingml/2006/main">
            <a:off x="720000" y="3960000"/>
            <a:ext cx="501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2C5F2D"/>
                </a:solidFill>
                <a:latin typeface="Trebuchet MS"/>
                <a:ea typeface="Trebuchet MS"/>
              </a:rPr>
              <a:t>中华草龟、中华花龟</a:t>
            </a:r>
          </a:p>
        </p:txBody>
      </p:sp>
      <p:sp>
        <p:nvSpPr>
          <p:cNvPr id="10051" name="TextBox 8"/>
          <p:cNvSpPr txBox="1"/>
          <p:nvPr/>
        </p:nvSpPr>
        <p:spPr>
          <a:xfrm xmlns:a="http://schemas.openxmlformats.org/drawingml/2006/main">
            <a:off x="900000" y="4500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C5F2D"/>
                </a:solidFill>
                <a:latin typeface="Calibri"/>
                <a:ea typeface="Calibri"/>
              </a:rPr>
              <a:t>✓ 真正属于这片土地</a:t>
            </a:r>
          </a:p>
        </p:txBody>
      </p:sp>
      <p:sp>
        <p:nvSpPr>
          <p:cNvPr id="10052" name="TextBox 9"/>
          <p:cNvSpPr txBox="1"/>
          <p:nvPr/>
        </p:nvSpPr>
        <p:spPr>
          <a:xfrm xmlns:a="http://schemas.openxmlformats.org/drawingml/2006/main">
            <a:off x="900000" y="4932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C5F2D"/>
                </a:solidFill>
                <a:latin typeface="Calibri"/>
                <a:ea typeface="Calibri"/>
              </a:rPr>
              <a:t>✓ 数量很少，已是保护动物</a:t>
            </a:r>
          </a:p>
        </p:txBody>
      </p:sp>
      <p:sp>
        <p:nvSpPr>
          <p:cNvPr id="10053" name="TextBox 10"/>
          <p:cNvSpPr txBox="1"/>
          <p:nvPr/>
        </p:nvSpPr>
        <p:spPr>
          <a:xfrm xmlns:a="http://schemas.openxmlformats.org/drawingml/2006/main">
            <a:off x="900000" y="5364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C5F2D"/>
                </a:solidFill>
                <a:latin typeface="Calibri"/>
                <a:ea typeface="Calibri"/>
              </a:rPr>
              <a:t>✗ 普通市场基本买不到</a:t>
            </a:r>
          </a:p>
        </p:txBody>
      </p:sp>
      <p:sp>
        <p:nvSpPr>
          <p:cNvPr id="10054" name="TextBox 11"/>
          <p:cNvSpPr txBox="1"/>
          <p:nvPr/>
        </p:nvSpPr>
        <p:spPr>
          <a:xfrm xmlns:a="http://schemas.openxmlformats.org/drawingml/2006/main">
            <a:off x="900000" y="5796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C5F2D"/>
                </a:solidFill>
                <a:latin typeface="Calibri"/>
                <a:ea typeface="Calibri"/>
              </a:rPr>
              <a:t>✗ 也不允许私自买卖、放生</a:t>
            </a:r>
          </a:p>
        </p:txBody>
      </p:sp>
      <p:sp>
        <p:nvSpPr>
          <p:cNvPr id="10055" name="TextBox 12"/>
          <p:cNvSpPr/>
          <p:nvPr/>
        </p:nvSpPr>
        <p:spPr>
          <a:xfrm xmlns:a="http://schemas.openxmlformats.org/drawingml/2006/main">
            <a:off x="6278400" y="1620000"/>
            <a:ext cx="5378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56" name="TextBox 13"/>
          <p:cNvSpPr txBox="1"/>
          <p:nvPr/>
        </p:nvSpPr>
        <p:spPr>
          <a:xfrm xmlns:a="http://schemas.openxmlformats.org/drawingml/2006/main">
            <a:off x="6278400" y="1620000"/>
            <a:ext cx="53784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⚠️ 外来龟（最常见）</a:t>
            </a:r>
          </a:p>
        </p:txBody>
      </p:sp>
      <p:sp>
        <p:nvSpPr>
          <p:cNvPr id="10057" name="TextBox 14"/>
          <p:cNvSpPr/>
          <p:nvPr/>
        </p:nvSpPr>
        <p:spPr>
          <a:xfrm xmlns:a="http://schemas.openxmlformats.org/drawingml/2006/main">
            <a:off x="6278400" y="2448000"/>
            <a:ext cx="53784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5D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58" name="TextBox 15"/>
          <p:cNvSpPr txBox="1"/>
          <p:nvPr/>
        </p:nvSpPr>
        <p:spPr>
          <a:xfrm xmlns:a="http://schemas.openxmlformats.org/drawingml/2006/main">
            <a:off x="6278400" y="2592000"/>
            <a:ext cx="53784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8000">
                <a:latin typeface="Calibri"/>
                <a:ea typeface="Calibri"/>
              </a:rPr>
              <a:t>🐢</a:t>
            </a:r>
          </a:p>
        </p:txBody>
      </p:sp>
      <p:sp>
        <p:nvSpPr>
          <p:cNvPr id="10059" name="TextBox 16"/>
          <p:cNvSpPr txBox="1"/>
          <p:nvPr/>
        </p:nvSpPr>
        <p:spPr>
          <a:xfrm xmlns:a="http://schemas.openxmlformats.org/drawingml/2006/main">
            <a:off x="6458400" y="3960000"/>
            <a:ext cx="50184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B85042"/>
                </a:solidFill>
                <a:latin typeface="Trebuchet MS"/>
                <a:ea typeface="Trebuchet MS"/>
              </a:rPr>
              <a:t>巴西龟（红耳龟）</a:t>
            </a:r>
          </a:p>
        </p:txBody>
      </p:sp>
      <p:sp>
        <p:nvSpPr>
          <p:cNvPr id="10060" name="TextBox 17"/>
          <p:cNvSpPr txBox="1"/>
          <p:nvPr/>
        </p:nvSpPr>
        <p:spPr>
          <a:xfrm xmlns:a="http://schemas.openxmlformats.org/drawingml/2006/main">
            <a:off x="6638400" y="4500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85042"/>
                </a:solidFill>
                <a:latin typeface="Calibri"/>
                <a:ea typeface="Calibri"/>
              </a:rPr>
              <a:t>✓ 9 元一只，市场上到处都有</a:t>
            </a:r>
          </a:p>
        </p:txBody>
      </p:sp>
      <p:sp>
        <p:nvSpPr>
          <p:cNvPr id="10061" name="TextBox 18"/>
          <p:cNvSpPr txBox="1"/>
          <p:nvPr/>
        </p:nvSpPr>
        <p:spPr>
          <a:xfrm xmlns:a="http://schemas.openxmlformats.org/drawingml/2006/main">
            <a:off x="6638400" y="4932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85042"/>
                </a:solidFill>
                <a:latin typeface="Calibri"/>
                <a:ea typeface="Calibri"/>
              </a:rPr>
              <a:t>⚠ 来自南美，不属于中国河流</a:t>
            </a:r>
          </a:p>
        </p:txBody>
      </p:sp>
      <p:sp>
        <p:nvSpPr>
          <p:cNvPr id="10062" name="TextBox 19"/>
          <p:cNvSpPr txBox="1"/>
          <p:nvPr/>
        </p:nvSpPr>
        <p:spPr>
          <a:xfrm xmlns:a="http://schemas.openxmlformats.org/drawingml/2006/main">
            <a:off x="6638400" y="5364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B85042"/>
                </a:solidFill>
                <a:latin typeface="Calibri"/>
                <a:ea typeface="Calibri"/>
              </a:rPr>
              <a:t>⚠ 性格凶猛，会咬死本地龟</a:t>
            </a:r>
          </a:p>
        </p:txBody>
      </p:sp>
      <p:sp>
        <p:nvSpPr>
          <p:cNvPr id="10063" name="TextBox 20"/>
          <p:cNvSpPr txBox="1"/>
          <p:nvPr/>
        </p:nvSpPr>
        <p:spPr>
          <a:xfrm xmlns:a="http://schemas.openxmlformats.org/drawingml/2006/main">
            <a:off x="6638400" y="5796000"/>
            <a:ext cx="468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85042"/>
                </a:solidFill>
                <a:latin typeface="Calibri"/>
                <a:ea typeface="Calibri"/>
              </a:rPr>
              <a:t>⚠ 全球 100 大入侵物种之一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64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B85042"/>
                </a:solidFill>
                <a:latin typeface="Trebuchet MS"/>
                <a:ea typeface="Trebuchet MS"/>
              </a:rPr>
              <a:t>一只巴西龟会发生什么？</a:t>
            </a:r>
          </a:p>
        </p:txBody>
      </p:sp>
      <p:sp>
        <p:nvSpPr>
          <p:cNvPr id="10065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8C7B75"/>
                </a:solidFill>
                <a:latin typeface="Calibri"/>
                <a:ea typeface="Calibri"/>
              </a:rPr>
              <a:t>顺着箭头看，看完你可能不会再放生了</a:t>
            </a:r>
          </a:p>
        </p:txBody>
      </p:sp>
      <p:sp>
        <p:nvSpPr>
          <p:cNvPr id="10066" name="Step1"/>
          <p:cNvSpPr/>
          <p:nvPr/>
        </p:nvSpPr>
        <p:spPr>
          <a:xfrm xmlns:a="http://schemas.openxmlformats.org/drawingml/2006/main">
            <a:off x="540000" y="2160000"/>
            <a:ext cx="216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67" name="TextBox 4"/>
          <p:cNvSpPr/>
          <p:nvPr/>
        </p:nvSpPr>
        <p:spPr>
          <a:xfrm xmlns:a="http://schemas.openxmlformats.org/drawingml/2006/main">
            <a:off x="540000" y="194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68" name="TextBox 5"/>
          <p:cNvSpPr txBox="1"/>
          <p:nvPr/>
        </p:nvSpPr>
        <p:spPr>
          <a:xfrm xmlns:a="http://schemas.openxmlformats.org/drawingml/2006/main">
            <a:off x="540000" y="198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Trebuchet MS"/>
                <a:ea typeface="Trebuchet MS"/>
              </a:rPr>
              <a:t>1</a:t>
            </a:r>
          </a:p>
        </p:txBody>
      </p:sp>
      <p:sp>
        <p:nvSpPr>
          <p:cNvPr id="10069" name="TextBox 6"/>
          <p:cNvSpPr txBox="1"/>
          <p:nvPr/>
        </p:nvSpPr>
        <p:spPr>
          <a:xfrm xmlns:a="http://schemas.openxmlformats.org/drawingml/2006/main">
            <a:off x="540000" y="2448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🐢</a:t>
            </a:r>
          </a:p>
        </p:txBody>
      </p:sp>
      <p:sp>
        <p:nvSpPr>
          <p:cNvPr id="10070" name="TextBox 7"/>
          <p:cNvSpPr txBox="1"/>
          <p:nvPr/>
        </p:nvSpPr>
        <p:spPr>
          <a:xfrm xmlns:a="http://schemas.openxmlformats.org/drawingml/2006/main">
            <a:off x="540000" y="3708000"/>
            <a:ext cx="2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被你放进河里</a:t>
            </a:r>
          </a:p>
        </p:txBody>
      </p:sp>
      <p:sp>
        <p:nvSpPr>
          <p:cNvPr id="10071" name="TextBox 8"/>
          <p:cNvSpPr txBox="1"/>
          <p:nvPr/>
        </p:nvSpPr>
        <p:spPr>
          <a:xfrm xmlns:a="http://schemas.openxmlformats.org/drawingml/2006/main">
            <a:off x="648000" y="4392000"/>
            <a:ext cx="1944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巴西龟一下子有了大房间</a:t>
            </a:r>
          </a:p>
        </p:txBody>
      </p:sp>
      <p:sp>
        <p:nvSpPr>
          <p:cNvPr id="10072" name="Step2"/>
          <p:cNvSpPr/>
          <p:nvPr/>
        </p:nvSpPr>
        <p:spPr>
          <a:xfrm xmlns:a="http://schemas.openxmlformats.org/drawingml/2006/main">
            <a:off x="3524400" y="2160000"/>
            <a:ext cx="216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3" name="TextBox 10"/>
          <p:cNvSpPr/>
          <p:nvPr/>
        </p:nvSpPr>
        <p:spPr>
          <a:xfrm xmlns:a="http://schemas.openxmlformats.org/drawingml/2006/main">
            <a:off x="3524400" y="194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4" name="TextBox 11"/>
          <p:cNvSpPr txBox="1"/>
          <p:nvPr/>
        </p:nvSpPr>
        <p:spPr>
          <a:xfrm xmlns:a="http://schemas.openxmlformats.org/drawingml/2006/main">
            <a:off x="3524400" y="198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Trebuchet MS"/>
                <a:ea typeface="Trebuchet MS"/>
              </a:rPr>
              <a:t>2</a:t>
            </a:r>
          </a:p>
        </p:txBody>
      </p:sp>
      <p:sp>
        <p:nvSpPr>
          <p:cNvPr id="10075" name="TextBox 12"/>
          <p:cNvSpPr txBox="1"/>
          <p:nvPr/>
        </p:nvSpPr>
        <p:spPr>
          <a:xfrm xmlns:a="http://schemas.openxmlformats.org/drawingml/2006/main">
            <a:off x="3524400" y="2448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🍴</a:t>
            </a:r>
          </a:p>
        </p:txBody>
      </p:sp>
      <p:sp>
        <p:nvSpPr>
          <p:cNvPr id="10076" name="TextBox 13"/>
          <p:cNvSpPr txBox="1"/>
          <p:nvPr/>
        </p:nvSpPr>
        <p:spPr>
          <a:xfrm xmlns:a="http://schemas.openxmlformats.org/drawingml/2006/main">
            <a:off x="3524400" y="3708000"/>
            <a:ext cx="2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见啥吃啥</a:t>
            </a:r>
          </a:p>
        </p:txBody>
      </p:sp>
      <p:sp>
        <p:nvSpPr>
          <p:cNvPr id="10077" name="TextBox 14"/>
          <p:cNvSpPr txBox="1"/>
          <p:nvPr/>
        </p:nvSpPr>
        <p:spPr>
          <a:xfrm xmlns:a="http://schemas.openxmlformats.org/drawingml/2006/main">
            <a:off x="3632400" y="4392000"/>
            <a:ext cx="1944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鱼卵、蝌蚪、小虾、水草，统统吃光</a:t>
            </a:r>
          </a:p>
        </p:txBody>
      </p:sp>
      <p:sp>
        <p:nvSpPr>
          <p:cNvPr id="10078" name="Step3"/>
          <p:cNvSpPr/>
          <p:nvPr/>
        </p:nvSpPr>
        <p:spPr>
          <a:xfrm xmlns:a="http://schemas.openxmlformats.org/drawingml/2006/main">
            <a:off x="6508800" y="2160000"/>
            <a:ext cx="216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9" name="TextBox 16"/>
          <p:cNvSpPr/>
          <p:nvPr/>
        </p:nvSpPr>
        <p:spPr>
          <a:xfrm xmlns:a="http://schemas.openxmlformats.org/drawingml/2006/main">
            <a:off x="6508800" y="194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80" name="TextBox 17"/>
          <p:cNvSpPr txBox="1"/>
          <p:nvPr/>
        </p:nvSpPr>
        <p:spPr>
          <a:xfrm xmlns:a="http://schemas.openxmlformats.org/drawingml/2006/main">
            <a:off x="6508800" y="198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Trebuchet MS"/>
                <a:ea typeface="Trebuchet MS"/>
              </a:rPr>
              <a:t>3</a:t>
            </a:r>
          </a:p>
        </p:txBody>
      </p:sp>
      <p:sp>
        <p:nvSpPr>
          <p:cNvPr id="10081" name="TextBox 18"/>
          <p:cNvSpPr txBox="1"/>
          <p:nvPr/>
        </p:nvSpPr>
        <p:spPr>
          <a:xfrm xmlns:a="http://schemas.openxmlformats.org/drawingml/2006/main">
            <a:off x="6508800" y="2448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💀</a:t>
            </a:r>
          </a:p>
        </p:txBody>
      </p:sp>
      <p:sp>
        <p:nvSpPr>
          <p:cNvPr id="10082" name="TextBox 19"/>
          <p:cNvSpPr txBox="1"/>
          <p:nvPr/>
        </p:nvSpPr>
        <p:spPr>
          <a:xfrm xmlns:a="http://schemas.openxmlformats.org/drawingml/2006/main">
            <a:off x="6508800" y="3708000"/>
            <a:ext cx="2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本地动物变少</a:t>
            </a:r>
          </a:p>
        </p:txBody>
      </p:sp>
      <p:sp>
        <p:nvSpPr>
          <p:cNvPr id="10083" name="TextBox 20"/>
          <p:cNvSpPr txBox="1"/>
          <p:nvPr/>
        </p:nvSpPr>
        <p:spPr>
          <a:xfrm xmlns:a="http://schemas.openxmlformats.org/drawingml/2006/main">
            <a:off x="6616800" y="4392000"/>
            <a:ext cx="1944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小鱼小虾的妈妈都没了，本地龟也被赶走</a:t>
            </a:r>
          </a:p>
        </p:txBody>
      </p:sp>
      <p:sp>
        <p:nvSpPr>
          <p:cNvPr id="10084" name="Step4"/>
          <p:cNvSpPr/>
          <p:nvPr/>
        </p:nvSpPr>
        <p:spPr>
          <a:xfrm xmlns:a="http://schemas.openxmlformats.org/drawingml/2006/main">
            <a:off x="9493200" y="2160000"/>
            <a:ext cx="2160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D2E4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85" name="TextBox 22"/>
          <p:cNvSpPr/>
          <p:nvPr/>
        </p:nvSpPr>
        <p:spPr>
          <a:xfrm xmlns:a="http://schemas.openxmlformats.org/drawingml/2006/main">
            <a:off x="9493200" y="194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86" name="TextBox 23"/>
          <p:cNvSpPr txBox="1"/>
          <p:nvPr/>
        </p:nvSpPr>
        <p:spPr>
          <a:xfrm xmlns:a="http://schemas.openxmlformats.org/drawingml/2006/main">
            <a:off x="9493200" y="198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B85042"/>
                </a:solidFill>
                <a:latin typeface="Trebuchet MS"/>
                <a:ea typeface="Trebuchet MS"/>
              </a:rPr>
              <a:t>4</a:t>
            </a:r>
          </a:p>
        </p:txBody>
      </p:sp>
      <p:sp>
        <p:nvSpPr>
          <p:cNvPr id="10087" name="TextBox 24"/>
          <p:cNvSpPr txBox="1"/>
          <p:nvPr/>
        </p:nvSpPr>
        <p:spPr>
          <a:xfrm xmlns:a="http://schemas.openxmlformats.org/drawingml/2006/main">
            <a:off x="9493200" y="2448000"/>
            <a:ext cx="2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🌊</a:t>
            </a:r>
          </a:p>
        </p:txBody>
      </p:sp>
      <p:sp>
        <p:nvSpPr>
          <p:cNvPr id="10088" name="TextBox 25"/>
          <p:cNvSpPr txBox="1"/>
          <p:nvPr/>
        </p:nvSpPr>
        <p:spPr>
          <a:xfrm xmlns:a="http://schemas.openxmlformats.org/drawingml/2006/main">
            <a:off x="9493200" y="3708000"/>
            <a:ext cx="2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整个生态崩塌</a:t>
            </a:r>
          </a:p>
        </p:txBody>
      </p:sp>
      <p:sp>
        <p:nvSpPr>
          <p:cNvPr id="10089" name="TextBox 26"/>
          <p:cNvSpPr txBox="1"/>
          <p:nvPr/>
        </p:nvSpPr>
        <p:spPr>
          <a:xfrm xmlns:a="http://schemas.openxmlformats.org/drawingml/2006/main">
            <a:off x="9601200" y="4392000"/>
            <a:ext cx="1944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几年后，这条河就不再热闹了</a:t>
            </a:r>
          </a:p>
        </p:txBody>
      </p:sp>
      <p:sp>
        <p:nvSpPr>
          <p:cNvPr id="10090" name="TextBox 27"/>
          <p:cNvSpPr/>
          <p:nvPr/>
        </p:nvSpPr>
        <p:spPr>
          <a:xfrm xmlns:a="http://schemas.openxmlformats.org/drawingml/2006/main">
            <a:off x="2700000" y="3780000"/>
            <a:ext cx="824400" cy="36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7B7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91" name="TextBox 28"/>
          <p:cNvSpPr/>
          <p:nvPr/>
        </p:nvSpPr>
        <p:spPr>
          <a:xfrm xmlns:a="http://schemas.openxmlformats.org/drawingml/2006/main">
            <a:off x="5684400" y="3780000"/>
            <a:ext cx="824400" cy="36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7B7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92" name="TextBox 29"/>
          <p:cNvSpPr/>
          <p:nvPr/>
        </p:nvSpPr>
        <p:spPr>
          <a:xfrm xmlns:a="http://schemas.openxmlformats.org/drawingml/2006/main">
            <a:off x="8668800" y="3780000"/>
            <a:ext cx="824400" cy="360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7B7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93" name="TextBox 30"/>
          <p:cNvSpPr/>
          <p:nvPr/>
        </p:nvSpPr>
        <p:spPr>
          <a:xfrm xmlns:a="http://schemas.openxmlformats.org/drawingml/2006/main">
            <a:off x="540000" y="6120000"/>
            <a:ext cx="111132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94" name="TextBox 31"/>
          <p:cNvSpPr txBox="1"/>
          <p:nvPr/>
        </p:nvSpPr>
        <p:spPr>
          <a:xfrm xmlns:a="http://schemas.openxmlformats.org/drawingml/2006/main">
            <a:off x="540000" y="6120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⚠ 你的放生，可能让另一群小鱼永远回不了家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95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B85042"/>
                </a:solidFill>
                <a:latin typeface="Trebuchet MS"/>
                <a:ea typeface="Trebuchet MS"/>
              </a:rPr>
              <a:t>不止你一个人这样做</a:t>
            </a:r>
          </a:p>
        </p:txBody>
      </p:sp>
      <p:sp>
        <p:nvSpPr>
          <p:cNvPr id="10096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8C7B75"/>
                </a:solidFill>
                <a:latin typeface="Calibri"/>
                <a:ea typeface="Calibri"/>
              </a:rPr>
              <a:t>中国湿地里巴西龟越来越多，本地龟越来越少</a:t>
            </a:r>
          </a:p>
        </p:txBody>
      </p:sp>
      <p:graphicFrame>
        <p:nvGraphicFramePr>
          <p:cNvPr id="10097" name="中国湿地龟类相对数量趋势"/>
          <p:cNvGraphicFramePr/>
          <p:nvPr/>
        </p:nvGraphicFramePr>
        <p:xfrm>
          <a:off xmlns:a="http://schemas.openxmlformats.org/drawingml/2006/main" x="540000" y="1728000"/>
          <a:ext xmlns:a="http://schemas.openxmlformats.org/drawingml/2006/main" cx="7200000" cy="45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e7896273294437"/>
          </a:graphicData>
        </a:graphic>
      </p:graphicFrame>
      <p:sp>
        <p:nvSpPr>
          <p:cNvPr id="10098" name="TextBox 3"/>
          <p:cNvSpPr/>
          <p:nvPr/>
        </p:nvSpPr>
        <p:spPr>
          <a:xfrm xmlns:a="http://schemas.openxmlformats.org/drawingml/2006/main">
            <a:off x="8100000" y="1728000"/>
            <a:ext cx="35532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5D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99" name="TextBox 4"/>
          <p:cNvSpPr txBox="1"/>
          <p:nvPr/>
        </p:nvSpPr>
        <p:spPr>
          <a:xfrm xmlns:a="http://schemas.openxmlformats.org/drawingml/2006/main">
            <a:off x="8280000" y="1980000"/>
            <a:ext cx="319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B85042"/>
                </a:solidFill>
                <a:latin typeface="Trebuchet MS"/>
                <a:ea typeface="Trebuchet MS"/>
              </a:rPr>
              <a:t>📊 看出问题了吗</a:t>
            </a:r>
          </a:p>
        </p:txBody>
      </p:sp>
      <p:sp>
        <p:nvSpPr>
          <p:cNvPr id="10100" name="TextBox 5"/>
          <p:cNvSpPr txBox="1"/>
          <p:nvPr/>
        </p:nvSpPr>
        <p:spPr>
          <a:xfrm xmlns:a="http://schemas.openxmlformats.org/drawingml/2006/main">
            <a:off x="8280000" y="2700000"/>
            <a:ext cx="319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D2B2B"/>
                </a:solidFill>
                <a:latin typeface="Calibri"/>
                <a:ea typeface="Calibri"/>
              </a:rPr>
              <a:t>本地龟在 24 年里只剩了 18%。</a:t>
            </a:r>
          </a:p>
        </p:txBody>
      </p:sp>
      <p:sp>
        <p:nvSpPr>
          <p:cNvPr id="10101" name="TextBox 6"/>
          <p:cNvSpPr txBox="1"/>
          <p:nvPr/>
        </p:nvSpPr>
        <p:spPr>
          <a:xfrm xmlns:a="http://schemas.openxmlformats.org/drawingml/2006/main">
            <a:off x="8280000" y="3600000"/>
            <a:ext cx="319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D2B2B"/>
                </a:solidFill>
                <a:latin typeface="Calibri"/>
                <a:ea typeface="Calibri"/>
              </a:rPr>
              <a:t>同期巴西龟翻了 42 倍。</a:t>
            </a:r>
          </a:p>
        </p:txBody>
      </p:sp>
      <p:sp>
        <p:nvSpPr>
          <p:cNvPr id="10102" name="TextBox 7"/>
          <p:cNvSpPr txBox="1"/>
          <p:nvPr/>
        </p:nvSpPr>
        <p:spPr>
          <a:xfrm xmlns:a="http://schemas.openxmlformats.org/drawingml/2006/main">
            <a:off x="8280000" y="4680000"/>
            <a:ext cx="319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85042"/>
                </a:solidFill>
                <a:latin typeface="Calibri"/>
                <a:ea typeface="Calibri"/>
              </a:rPr>
              <a:t>每个放生的小朋友，都把这条线往坏的方向推了一下。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103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Trebuchet MS"/>
                <a:ea typeface="Trebuchet MS"/>
              </a:rPr>
              <a:t>叔叔阿姨告诉你：放生其实有规定</a:t>
            </a:r>
          </a:p>
        </p:txBody>
      </p:sp>
      <p:sp>
        <p:nvSpPr>
          <p:cNvPr id="10104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CADCFC"/>
                </a:solidFill>
                <a:latin typeface="Calibri"/>
                <a:ea typeface="Calibri"/>
              </a:rPr>
              <a:t>《野生动物保护法》和《长江保护法》关于放生的内容</a:t>
            </a:r>
          </a:p>
        </p:txBody>
      </p:sp>
      <p:sp>
        <p:nvSpPr>
          <p:cNvPr id="10105" name="TextBox 3"/>
          <p:cNvSpPr/>
          <p:nvPr/>
        </p:nvSpPr>
        <p:spPr>
          <a:xfrm xmlns:a="http://schemas.openxmlformats.org/drawingml/2006/main">
            <a:off x="540000" y="1728000"/>
            <a:ext cx="111132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06" name="TextBox 4"/>
          <p:cNvSpPr/>
          <p:nvPr/>
        </p:nvSpPr>
        <p:spPr>
          <a:xfrm xmlns:a="http://schemas.openxmlformats.org/drawingml/2006/main">
            <a:off x="720000" y="1980000"/>
            <a:ext cx="900000" cy="9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07" name="TextBox 5"/>
          <p:cNvSpPr txBox="1"/>
          <p:nvPr/>
        </p:nvSpPr>
        <p:spPr>
          <a:xfrm xmlns:a="http://schemas.openxmlformats.org/drawingml/2006/main">
            <a:off x="720000" y="2016000"/>
            <a:ext cx="90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§1</a:t>
            </a:r>
          </a:p>
        </p:txBody>
      </p:sp>
      <p:sp>
        <p:nvSpPr>
          <p:cNvPr id="10108" name="TextBox 6"/>
          <p:cNvSpPr txBox="1"/>
          <p:nvPr/>
        </p:nvSpPr>
        <p:spPr>
          <a:xfrm xmlns:a="http://schemas.openxmlformats.org/drawingml/2006/main">
            <a:off x="1980000" y="1908000"/>
            <a:ext cx="9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2761"/>
                </a:solidFill>
                <a:latin typeface="Trebuchet MS"/>
                <a:ea typeface="Trebuchet MS"/>
              </a:rPr>
              <a:t>《野生动物保护法》第 38 条</a:t>
            </a:r>
          </a:p>
        </p:txBody>
      </p:sp>
      <p:sp>
        <p:nvSpPr>
          <p:cNvPr id="10109" name="TextBox 7"/>
          <p:cNvSpPr txBox="1"/>
          <p:nvPr/>
        </p:nvSpPr>
        <p:spPr>
          <a:xfrm xmlns:a="http://schemas.openxmlformats.org/drawingml/2006/main">
            <a:off x="1980000" y="2376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随意放生外来物种，可能造成生态危害，要承担法律责任。</a:t>
            </a:r>
          </a:p>
        </p:txBody>
      </p:sp>
      <p:sp>
        <p:nvSpPr>
          <p:cNvPr id="10110" name="TextBox 8"/>
          <p:cNvSpPr/>
          <p:nvPr/>
        </p:nvSpPr>
        <p:spPr>
          <a:xfrm xmlns:a="http://schemas.openxmlformats.org/drawingml/2006/main">
            <a:off x="540000" y="3420000"/>
            <a:ext cx="111132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11" name="TextBox 9"/>
          <p:cNvSpPr/>
          <p:nvPr/>
        </p:nvSpPr>
        <p:spPr>
          <a:xfrm xmlns:a="http://schemas.openxmlformats.org/drawingml/2006/main">
            <a:off x="720000" y="3672000"/>
            <a:ext cx="900000" cy="9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12" name="TextBox 10"/>
          <p:cNvSpPr txBox="1"/>
          <p:nvPr/>
        </p:nvSpPr>
        <p:spPr>
          <a:xfrm xmlns:a="http://schemas.openxmlformats.org/drawingml/2006/main">
            <a:off x="720000" y="3708000"/>
            <a:ext cx="90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§2</a:t>
            </a:r>
          </a:p>
        </p:txBody>
      </p:sp>
      <p:sp>
        <p:nvSpPr>
          <p:cNvPr id="10113" name="TextBox 11"/>
          <p:cNvSpPr txBox="1"/>
          <p:nvPr/>
        </p:nvSpPr>
        <p:spPr>
          <a:xfrm xmlns:a="http://schemas.openxmlformats.org/drawingml/2006/main">
            <a:off x="1980000" y="3600000"/>
            <a:ext cx="9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2761"/>
                </a:solidFill>
                <a:latin typeface="Trebuchet MS"/>
                <a:ea typeface="Trebuchet MS"/>
              </a:rPr>
              <a:t>《长江保护法》第 88 条</a:t>
            </a:r>
          </a:p>
        </p:txBody>
      </p:sp>
      <p:sp>
        <p:nvSpPr>
          <p:cNvPr id="10114" name="TextBox 12"/>
          <p:cNvSpPr txBox="1"/>
          <p:nvPr/>
        </p:nvSpPr>
        <p:spPr>
          <a:xfrm xmlns:a="http://schemas.openxmlformats.org/drawingml/2006/main">
            <a:off x="1980000" y="4068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在长江流域水域擅自放生，可能被处罚款。</a:t>
            </a:r>
          </a:p>
        </p:txBody>
      </p:sp>
      <p:sp>
        <p:nvSpPr>
          <p:cNvPr id="10115" name="TextBox 13"/>
          <p:cNvSpPr/>
          <p:nvPr/>
        </p:nvSpPr>
        <p:spPr>
          <a:xfrm xmlns:a="http://schemas.openxmlformats.org/drawingml/2006/main">
            <a:off x="540000" y="5112000"/>
            <a:ext cx="111132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16" name="TextBox 14"/>
          <p:cNvSpPr/>
          <p:nvPr/>
        </p:nvSpPr>
        <p:spPr>
          <a:xfrm xmlns:a="http://schemas.openxmlformats.org/drawingml/2006/main">
            <a:off x="720000" y="5364000"/>
            <a:ext cx="900000" cy="9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17" name="TextBox 15"/>
          <p:cNvSpPr txBox="1"/>
          <p:nvPr/>
        </p:nvSpPr>
        <p:spPr>
          <a:xfrm xmlns:a="http://schemas.openxmlformats.org/drawingml/2006/main">
            <a:off x="720000" y="5400000"/>
            <a:ext cx="90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§3</a:t>
            </a:r>
          </a:p>
        </p:txBody>
      </p:sp>
      <p:sp>
        <p:nvSpPr>
          <p:cNvPr id="10118" name="TextBox 16"/>
          <p:cNvSpPr txBox="1"/>
          <p:nvPr/>
        </p:nvSpPr>
        <p:spPr>
          <a:xfrm xmlns:a="http://schemas.openxmlformats.org/drawingml/2006/main">
            <a:off x="1980000" y="5292000"/>
            <a:ext cx="93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2761"/>
                </a:solidFill>
                <a:latin typeface="Trebuchet MS"/>
                <a:ea typeface="Trebuchet MS"/>
              </a:rPr>
              <a:t>随意放生造成损失需承担赔偿责任</a:t>
            </a:r>
          </a:p>
        </p:txBody>
      </p:sp>
      <p:sp>
        <p:nvSpPr>
          <p:cNvPr id="10119" name="TextBox 17"/>
          <p:cNvSpPr txBox="1"/>
          <p:nvPr/>
        </p:nvSpPr>
        <p:spPr>
          <a:xfrm xmlns:a="http://schemas.openxmlformats.org/drawingml/2006/main">
            <a:off x="1980000" y="5760000"/>
            <a:ext cx="9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如果放生导致他人鱼塘损失或物种入侵，监护人要赔钱。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28090"/>
        </a:solidFill>
      </p:bgPr>
    </p:bg>
    <p:spTree>
      <p:nvGrpSpPr>
        <p:cNvPr id="1" name=""/>
        <p:cNvGrpSpPr/>
        <p:nvPr/>
      </p:nvGrpSpPr>
      <p:grpSpPr/>
      <p:sp>
        <p:nvSpPr>
          <p:cNvPr id="10120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Trebuchet MS"/>
                <a:ea typeface="Trebuchet MS"/>
              </a:rPr>
              <a:t>那应该怎么办呢？</a:t>
            </a:r>
          </a:p>
        </p:txBody>
      </p:sp>
      <p:sp>
        <p:nvSpPr>
          <p:cNvPr id="10121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02C39A"/>
                </a:solidFill>
                <a:latin typeface="Calibri"/>
                <a:ea typeface="Calibri"/>
              </a:rPr>
              <a:t>如果你已经买了或捡到了乌龟，下面是真正帮它的 4 个办法</a:t>
            </a:r>
          </a:p>
        </p:txBody>
      </p:sp>
      <p:sp>
        <p:nvSpPr>
          <p:cNvPr id="10122" name="TextBox 3"/>
          <p:cNvSpPr/>
          <p:nvPr/>
        </p:nvSpPr>
        <p:spPr>
          <a:xfrm xmlns:a="http://schemas.openxmlformats.org/drawingml/2006/main">
            <a:off x="540000" y="1728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23" name="TextBox 4"/>
          <p:cNvSpPr/>
          <p:nvPr/>
        </p:nvSpPr>
        <p:spPr>
          <a:xfrm xmlns:a="http://schemas.openxmlformats.org/drawingml/2006/main">
            <a:off x="720000" y="1908000"/>
            <a:ext cx="900000" cy="9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24" name="TextBox 5"/>
          <p:cNvSpPr txBox="1"/>
          <p:nvPr/>
        </p:nvSpPr>
        <p:spPr>
          <a:xfrm xmlns:a="http://schemas.openxmlformats.org/drawingml/2006/main">
            <a:off x="720000" y="1980000"/>
            <a:ext cx="90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latin typeface="Calibri"/>
                <a:ea typeface="Calibri"/>
              </a:rPr>
              <a:t>🏠</a:t>
            </a:r>
          </a:p>
        </p:txBody>
      </p:sp>
      <p:sp>
        <p:nvSpPr>
          <p:cNvPr id="10125" name="TextBox 6"/>
          <p:cNvSpPr txBox="1"/>
          <p:nvPr/>
        </p:nvSpPr>
        <p:spPr>
          <a:xfrm xmlns:a="http://schemas.openxmlformats.org/drawingml/2006/main">
            <a:off x="4860000" y="1836000"/>
            <a:ext cx="9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3600" b="1">
                <a:solidFill>
                  <a:srgbClr val="02C39A"/>
                </a:solidFill>
                <a:latin typeface="Trebuchet MS"/>
                <a:ea typeface="Trebuchet MS"/>
              </a:rPr>
              <a:t>01</a:t>
            </a:r>
          </a:p>
        </p:txBody>
      </p:sp>
      <p:sp>
        <p:nvSpPr>
          <p:cNvPr id="10126" name="TextBox 7"/>
          <p:cNvSpPr txBox="1"/>
          <p:nvPr/>
        </p:nvSpPr>
        <p:spPr>
          <a:xfrm xmlns:a="http://schemas.openxmlformats.org/drawingml/2006/main">
            <a:off x="1800000" y="1908000"/>
            <a:ext cx="30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28090"/>
                </a:solidFill>
                <a:latin typeface="Trebuchet MS"/>
                <a:ea typeface="Trebuchet MS"/>
              </a:rPr>
              <a:t>好好养下去</a:t>
            </a:r>
          </a:p>
        </p:txBody>
      </p:sp>
      <p:sp>
        <p:nvSpPr>
          <p:cNvPr id="10127" name="TextBox 8"/>
          <p:cNvSpPr txBox="1"/>
          <p:nvPr/>
        </p:nvSpPr>
        <p:spPr>
          <a:xfrm xmlns:a="http://schemas.openxmlformats.org/drawingml/2006/main">
            <a:off x="1800000" y="2520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2D3B3B"/>
                </a:solidFill>
                <a:latin typeface="Calibri"/>
                <a:ea typeface="Calibri"/>
              </a:rPr>
              <a:t>把它当家人一样照顾到老。乌龟可以活几十年，是长长的承诺。</a:t>
            </a:r>
          </a:p>
        </p:txBody>
      </p:sp>
      <p:sp>
        <p:nvSpPr>
          <p:cNvPr id="10128" name="TextBox 9"/>
          <p:cNvSpPr/>
          <p:nvPr/>
        </p:nvSpPr>
        <p:spPr>
          <a:xfrm xmlns:a="http://schemas.openxmlformats.org/drawingml/2006/main">
            <a:off x="6278400" y="1728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29" name="TextBox 10"/>
          <p:cNvSpPr/>
          <p:nvPr/>
        </p:nvSpPr>
        <p:spPr>
          <a:xfrm xmlns:a="http://schemas.openxmlformats.org/drawingml/2006/main">
            <a:off x="6458400" y="1908000"/>
            <a:ext cx="900000" cy="9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30" name="TextBox 11"/>
          <p:cNvSpPr txBox="1"/>
          <p:nvPr/>
        </p:nvSpPr>
        <p:spPr>
          <a:xfrm xmlns:a="http://schemas.openxmlformats.org/drawingml/2006/main">
            <a:off x="6458400" y="1980000"/>
            <a:ext cx="90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latin typeface="Calibri"/>
                <a:ea typeface="Calibri"/>
              </a:rPr>
              <a:t>🏥</a:t>
            </a:r>
          </a:p>
        </p:txBody>
      </p:sp>
      <p:sp>
        <p:nvSpPr>
          <p:cNvPr id="10131" name="TextBox 12"/>
          <p:cNvSpPr txBox="1"/>
          <p:nvPr/>
        </p:nvSpPr>
        <p:spPr>
          <a:xfrm xmlns:a="http://schemas.openxmlformats.org/drawingml/2006/main">
            <a:off x="10598400" y="1836000"/>
            <a:ext cx="9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3600" b="1">
                <a:solidFill>
                  <a:srgbClr val="02C39A"/>
                </a:solidFill>
                <a:latin typeface="Trebuchet MS"/>
                <a:ea typeface="Trebuchet MS"/>
              </a:rPr>
              <a:t>02</a:t>
            </a:r>
          </a:p>
        </p:txBody>
      </p:sp>
      <p:sp>
        <p:nvSpPr>
          <p:cNvPr id="10132" name="TextBox 13"/>
          <p:cNvSpPr txBox="1"/>
          <p:nvPr/>
        </p:nvSpPr>
        <p:spPr>
          <a:xfrm xmlns:a="http://schemas.openxmlformats.org/drawingml/2006/main">
            <a:off x="7538400" y="1908000"/>
            <a:ext cx="30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28090"/>
                </a:solidFill>
                <a:latin typeface="Trebuchet MS"/>
                <a:ea typeface="Trebuchet MS"/>
              </a:rPr>
              <a:t>生病送医院</a:t>
            </a:r>
          </a:p>
        </p:txBody>
      </p:sp>
      <p:sp>
        <p:nvSpPr>
          <p:cNvPr id="10133" name="TextBox 14"/>
          <p:cNvSpPr txBox="1"/>
          <p:nvPr/>
        </p:nvSpPr>
        <p:spPr>
          <a:xfrm xmlns:a="http://schemas.openxmlformats.org/drawingml/2006/main">
            <a:off x="7538400" y="2520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2D3B3B"/>
                </a:solidFill>
                <a:latin typeface="Calibri"/>
                <a:ea typeface="Calibri"/>
              </a:rPr>
              <a:t>如果它生病了，找有爬行动物经验的宠物医院，不要扔掉。</a:t>
            </a:r>
          </a:p>
        </p:txBody>
      </p:sp>
      <p:sp>
        <p:nvSpPr>
          <p:cNvPr id="10134" name="TextBox 15"/>
          <p:cNvSpPr/>
          <p:nvPr/>
        </p:nvSpPr>
        <p:spPr>
          <a:xfrm xmlns:a="http://schemas.openxmlformats.org/drawingml/2006/main">
            <a:off x="540000" y="4176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35" name="TextBox 16"/>
          <p:cNvSpPr/>
          <p:nvPr/>
        </p:nvSpPr>
        <p:spPr>
          <a:xfrm xmlns:a="http://schemas.openxmlformats.org/drawingml/2006/main">
            <a:off x="720000" y="4356000"/>
            <a:ext cx="900000" cy="9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36" name="TextBox 17"/>
          <p:cNvSpPr txBox="1"/>
          <p:nvPr/>
        </p:nvSpPr>
        <p:spPr>
          <a:xfrm xmlns:a="http://schemas.openxmlformats.org/drawingml/2006/main">
            <a:off x="720000" y="4428000"/>
            <a:ext cx="90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latin typeface="Calibri"/>
                <a:ea typeface="Calibri"/>
              </a:rPr>
              <a:t>📞</a:t>
            </a:r>
          </a:p>
        </p:txBody>
      </p:sp>
      <p:sp>
        <p:nvSpPr>
          <p:cNvPr id="10137" name="TextBox 18"/>
          <p:cNvSpPr txBox="1"/>
          <p:nvPr/>
        </p:nvSpPr>
        <p:spPr>
          <a:xfrm xmlns:a="http://schemas.openxmlformats.org/drawingml/2006/main">
            <a:off x="4860000" y="4284000"/>
            <a:ext cx="9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3600" b="1">
                <a:solidFill>
                  <a:srgbClr val="02C39A"/>
                </a:solidFill>
                <a:latin typeface="Trebuchet MS"/>
                <a:ea typeface="Trebuchet MS"/>
              </a:rPr>
              <a:t>03</a:t>
            </a:r>
          </a:p>
        </p:txBody>
      </p:sp>
      <p:sp>
        <p:nvSpPr>
          <p:cNvPr id="10138" name="TextBox 19"/>
          <p:cNvSpPr txBox="1"/>
          <p:nvPr/>
        </p:nvSpPr>
        <p:spPr>
          <a:xfrm xmlns:a="http://schemas.openxmlformats.org/drawingml/2006/main">
            <a:off x="1800000" y="4356000"/>
            <a:ext cx="30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28090"/>
                </a:solidFill>
                <a:latin typeface="Trebuchet MS"/>
                <a:ea typeface="Trebuchet MS"/>
              </a:rPr>
              <a:t>联系救助站</a:t>
            </a:r>
          </a:p>
        </p:txBody>
      </p:sp>
      <p:sp>
        <p:nvSpPr>
          <p:cNvPr id="10139" name="TextBox 20"/>
          <p:cNvSpPr txBox="1"/>
          <p:nvPr/>
        </p:nvSpPr>
        <p:spPr>
          <a:xfrm xmlns:a="http://schemas.openxmlformats.org/drawingml/2006/main">
            <a:off x="1800000" y="4968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2D3B3B"/>
                </a:solidFill>
                <a:latin typeface="Calibri"/>
                <a:ea typeface="Calibri"/>
              </a:rPr>
              <a:t>拨打 12345 或当地林业部门，会有人来接收和处理。</a:t>
            </a:r>
          </a:p>
        </p:txBody>
      </p:sp>
      <p:sp>
        <p:nvSpPr>
          <p:cNvPr id="10140" name="TextBox 21"/>
          <p:cNvSpPr/>
          <p:nvPr/>
        </p:nvSpPr>
        <p:spPr>
          <a:xfrm xmlns:a="http://schemas.openxmlformats.org/drawingml/2006/main">
            <a:off x="6278400" y="4176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41" name="TextBox 22"/>
          <p:cNvSpPr/>
          <p:nvPr/>
        </p:nvSpPr>
        <p:spPr>
          <a:xfrm xmlns:a="http://schemas.openxmlformats.org/drawingml/2006/main">
            <a:off x="6458400" y="4356000"/>
            <a:ext cx="900000" cy="9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42" name="TextBox 23"/>
          <p:cNvSpPr txBox="1"/>
          <p:nvPr/>
        </p:nvSpPr>
        <p:spPr>
          <a:xfrm xmlns:a="http://schemas.openxmlformats.org/drawingml/2006/main">
            <a:off x="6458400" y="4428000"/>
            <a:ext cx="90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latin typeface="Calibri"/>
                <a:ea typeface="Calibri"/>
              </a:rPr>
              <a:t>🤝</a:t>
            </a:r>
          </a:p>
        </p:txBody>
      </p:sp>
      <p:sp>
        <p:nvSpPr>
          <p:cNvPr id="10143" name="TextBox 24"/>
          <p:cNvSpPr txBox="1"/>
          <p:nvPr/>
        </p:nvSpPr>
        <p:spPr>
          <a:xfrm xmlns:a="http://schemas.openxmlformats.org/drawingml/2006/main">
            <a:off x="10598400" y="4284000"/>
            <a:ext cx="9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3600" b="1">
                <a:solidFill>
                  <a:srgbClr val="02C39A"/>
                </a:solidFill>
                <a:latin typeface="Trebuchet MS"/>
                <a:ea typeface="Trebuchet MS"/>
              </a:rPr>
              <a:t>04</a:t>
            </a:r>
          </a:p>
        </p:txBody>
      </p:sp>
      <p:sp>
        <p:nvSpPr>
          <p:cNvPr id="10144" name="TextBox 25"/>
          <p:cNvSpPr txBox="1"/>
          <p:nvPr/>
        </p:nvSpPr>
        <p:spPr>
          <a:xfrm xmlns:a="http://schemas.openxmlformats.org/drawingml/2006/main">
            <a:off x="7538400" y="4356000"/>
            <a:ext cx="30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28090"/>
                </a:solidFill>
                <a:latin typeface="Trebuchet MS"/>
                <a:ea typeface="Trebuchet MS"/>
              </a:rPr>
              <a:t>送给会养的人</a:t>
            </a:r>
          </a:p>
        </p:txBody>
      </p:sp>
      <p:sp>
        <p:nvSpPr>
          <p:cNvPr id="10145" name="TextBox 26"/>
          <p:cNvSpPr txBox="1"/>
          <p:nvPr/>
        </p:nvSpPr>
        <p:spPr>
          <a:xfrm xmlns:a="http://schemas.openxmlformats.org/drawingml/2006/main">
            <a:off x="7538400" y="4968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2D3B3B"/>
                </a:solidFill>
                <a:latin typeface="Calibri"/>
                <a:ea typeface="Calibri"/>
              </a:rPr>
              <a:t>找邻居、同学的爸爸妈妈，把它转送给真的喜欢和懂养龟的人。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DC"/>
        </a:solidFill>
      </p:bgPr>
    </p:bg>
    <p:spTree>
      <p:nvGrpSpPr>
        <p:cNvPr id="1" name=""/>
        <p:cNvGrpSpPr/>
        <p:nvPr/>
      </p:nvGrpSpPr>
      <p:grpSpPr/>
      <p:sp>
        <p:nvSpPr>
          <p:cNvPr id="10146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065A82"/>
                </a:solidFill>
                <a:latin typeface="Trebuchet MS"/>
                <a:ea typeface="Trebuchet MS"/>
              </a:rPr>
              <a:t>买之前请先问自己 3 个问题</a:t>
            </a:r>
          </a:p>
        </p:txBody>
      </p:sp>
      <p:sp>
        <p:nvSpPr>
          <p:cNvPr id="10147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6B8FAA"/>
                </a:solidFill>
                <a:latin typeface="Calibri"/>
                <a:ea typeface="Calibri"/>
              </a:rPr>
              <a:t>只要有一个答案是不，就不要把它带回家</a:t>
            </a:r>
          </a:p>
        </p:txBody>
      </p:sp>
      <p:sp>
        <p:nvSpPr>
          <p:cNvPr id="10148" name="TextBox 3"/>
          <p:cNvSpPr/>
          <p:nvPr/>
        </p:nvSpPr>
        <p:spPr>
          <a:xfrm xmlns:a="http://schemas.openxmlformats.org/drawingml/2006/main">
            <a:off x="540000" y="1728000"/>
            <a:ext cx="111132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49" name="TextBox 4"/>
          <p:cNvSpPr/>
          <p:nvPr/>
        </p:nvSpPr>
        <p:spPr>
          <a:xfrm xmlns:a="http://schemas.openxmlformats.org/drawingml/2006/main">
            <a:off x="540000" y="1728000"/>
            <a:ext cx="144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0" name="TextBox 5"/>
          <p:cNvSpPr txBox="1"/>
          <p:nvPr/>
        </p:nvSpPr>
        <p:spPr>
          <a:xfrm xmlns:a="http://schemas.openxmlformats.org/drawingml/2006/main">
            <a:off x="540000" y="1728000"/>
            <a:ext cx="1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8000" b="1">
                <a:solidFill>
                  <a:srgbClr val="FFFFFF"/>
                </a:solidFill>
                <a:latin typeface="Trebuchet MS"/>
                <a:ea typeface="Trebuchet MS"/>
              </a:rPr>
              <a:t>?</a:t>
            </a:r>
          </a:p>
        </p:txBody>
      </p:sp>
      <p:sp>
        <p:nvSpPr>
          <p:cNvPr id="10151" name="TextBox 6"/>
          <p:cNvSpPr txBox="1"/>
          <p:nvPr/>
        </p:nvSpPr>
        <p:spPr>
          <a:xfrm xmlns:a="http://schemas.openxmlformats.org/drawingml/2006/main">
            <a:off x="2160000" y="1908000"/>
            <a:ext cx="91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65A82"/>
                </a:solidFill>
                <a:latin typeface="Trebuchet MS"/>
                <a:ea typeface="Trebuchet MS"/>
              </a:rPr>
              <a:t>我能照顾它 30 年吗？</a:t>
            </a:r>
          </a:p>
        </p:txBody>
      </p:sp>
      <p:sp>
        <p:nvSpPr>
          <p:cNvPr id="10152" name="TextBox 7"/>
          <p:cNvSpPr txBox="1"/>
          <p:nvPr/>
        </p:nvSpPr>
        <p:spPr>
          <a:xfrm xmlns:a="http://schemas.openxmlformats.org/drawingml/2006/main">
            <a:off x="2160000" y="2448000"/>
            <a:ext cx="91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D3B3B"/>
                </a:solidFill>
                <a:latin typeface="Calibri"/>
                <a:ea typeface="Calibri"/>
              </a:rPr>
              <a:t>巴西龟寿命 20-40 年。买它的时候，你要想想自己上大学、工作、结婚后还能不能继续养。</a:t>
            </a:r>
          </a:p>
        </p:txBody>
      </p:sp>
      <p:sp>
        <p:nvSpPr>
          <p:cNvPr id="10153" name="TextBox 8"/>
          <p:cNvSpPr/>
          <p:nvPr/>
        </p:nvSpPr>
        <p:spPr>
          <a:xfrm xmlns:a="http://schemas.openxmlformats.org/drawingml/2006/main">
            <a:off x="540000" y="3312000"/>
            <a:ext cx="111132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4" name="TextBox 9"/>
          <p:cNvSpPr/>
          <p:nvPr/>
        </p:nvSpPr>
        <p:spPr>
          <a:xfrm xmlns:a="http://schemas.openxmlformats.org/drawingml/2006/main">
            <a:off x="540000" y="3312000"/>
            <a:ext cx="144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5" name="TextBox 10"/>
          <p:cNvSpPr txBox="1"/>
          <p:nvPr/>
        </p:nvSpPr>
        <p:spPr>
          <a:xfrm xmlns:a="http://schemas.openxmlformats.org/drawingml/2006/main">
            <a:off x="540000" y="3312000"/>
            <a:ext cx="1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8000" b="1">
                <a:solidFill>
                  <a:srgbClr val="FFFFFF"/>
                </a:solidFill>
                <a:latin typeface="Trebuchet MS"/>
                <a:ea typeface="Trebuchet MS"/>
              </a:rPr>
              <a:t>?</a:t>
            </a:r>
          </a:p>
        </p:txBody>
      </p:sp>
      <p:sp>
        <p:nvSpPr>
          <p:cNvPr id="10156" name="TextBox 11"/>
          <p:cNvSpPr txBox="1"/>
          <p:nvPr/>
        </p:nvSpPr>
        <p:spPr>
          <a:xfrm xmlns:a="http://schemas.openxmlformats.org/drawingml/2006/main">
            <a:off x="2160000" y="3492000"/>
            <a:ext cx="91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65A82"/>
                </a:solidFill>
                <a:latin typeface="Trebuchet MS"/>
                <a:ea typeface="Trebuchet MS"/>
              </a:rPr>
              <a:t>我家的水缸够大吗？</a:t>
            </a:r>
          </a:p>
        </p:txBody>
      </p:sp>
      <p:sp>
        <p:nvSpPr>
          <p:cNvPr id="10157" name="TextBox 12"/>
          <p:cNvSpPr txBox="1"/>
          <p:nvPr/>
        </p:nvSpPr>
        <p:spPr>
          <a:xfrm xmlns:a="http://schemas.openxmlformats.org/drawingml/2006/main">
            <a:off x="2160000" y="4032000"/>
            <a:ext cx="91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D3B3B"/>
                </a:solidFill>
                <a:latin typeface="Calibri"/>
                <a:ea typeface="Calibri"/>
              </a:rPr>
              <a:t>成年巴西龟壳长 25cm，需要至少 80×40cm 的水缸。小盒子里关一辈子，是另一种残忍。</a:t>
            </a:r>
          </a:p>
        </p:txBody>
      </p:sp>
      <p:sp>
        <p:nvSpPr>
          <p:cNvPr id="10158" name="TextBox 13"/>
          <p:cNvSpPr/>
          <p:nvPr/>
        </p:nvSpPr>
        <p:spPr>
          <a:xfrm xmlns:a="http://schemas.openxmlformats.org/drawingml/2006/main">
            <a:off x="540000" y="4896000"/>
            <a:ext cx="111132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9" name="TextBox 14"/>
          <p:cNvSpPr/>
          <p:nvPr/>
        </p:nvSpPr>
        <p:spPr>
          <a:xfrm xmlns:a="http://schemas.openxmlformats.org/drawingml/2006/main">
            <a:off x="540000" y="4896000"/>
            <a:ext cx="144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60" name="TextBox 15"/>
          <p:cNvSpPr txBox="1"/>
          <p:nvPr/>
        </p:nvSpPr>
        <p:spPr>
          <a:xfrm xmlns:a="http://schemas.openxmlformats.org/drawingml/2006/main">
            <a:off x="540000" y="4896000"/>
            <a:ext cx="144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8000" b="1">
                <a:solidFill>
                  <a:srgbClr val="FFFFFF"/>
                </a:solidFill>
                <a:latin typeface="Trebuchet MS"/>
                <a:ea typeface="Trebuchet MS"/>
              </a:rPr>
              <a:t>?</a:t>
            </a:r>
          </a:p>
        </p:txBody>
      </p:sp>
      <p:sp>
        <p:nvSpPr>
          <p:cNvPr id="10161" name="TextBox 16"/>
          <p:cNvSpPr txBox="1"/>
          <p:nvPr/>
        </p:nvSpPr>
        <p:spPr>
          <a:xfrm xmlns:a="http://schemas.openxmlformats.org/drawingml/2006/main">
            <a:off x="2160000" y="5076000"/>
            <a:ext cx="91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65A82"/>
                </a:solidFill>
                <a:latin typeface="Trebuchet MS"/>
                <a:ea typeface="Trebuchet MS"/>
              </a:rPr>
              <a:t>万一养不下去，我有备选方案吗？</a:t>
            </a:r>
          </a:p>
        </p:txBody>
      </p:sp>
      <p:sp>
        <p:nvSpPr>
          <p:cNvPr id="10162" name="TextBox 17"/>
          <p:cNvSpPr txBox="1"/>
          <p:nvPr/>
        </p:nvSpPr>
        <p:spPr>
          <a:xfrm xmlns:a="http://schemas.openxmlformats.org/drawingml/2006/main">
            <a:off x="2160000" y="5616000"/>
            <a:ext cx="91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D3B3B"/>
                </a:solidFill>
                <a:latin typeface="Calibri"/>
                <a:ea typeface="Calibri"/>
              </a:rPr>
              <a:t>考虑好如果搬家、上学、过敏怎么办。如果只能放生，那就最好别开始养。</a:t>
            </a:r>
          </a:p>
        </p:txBody>
      </p:sp>
      <p:sp>
        <p:nvSpPr>
          <p:cNvPr id="10163" name="TextBox 18"/>
          <p:cNvSpPr/>
          <p:nvPr/>
        </p:nvSpPr>
        <p:spPr>
          <a:xfrm xmlns:a="http://schemas.openxmlformats.org/drawingml/2006/main">
            <a:off x="540000" y="6480000"/>
            <a:ext cx="11113200" cy="2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64" name="TextBox 19"/>
          <p:cNvSpPr txBox="1"/>
          <p:nvPr/>
        </p:nvSpPr>
        <p:spPr>
          <a:xfrm xmlns:a="http://schemas.openxmlformats.org/drawingml/2006/main">
            <a:off x="540000" y="6480000"/>
            <a:ext cx="11113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想清楚再下手 = 真正的负责任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028090"/>
            </a:gs>
            <a:gs pos="100000">
              <a:srgbClr val="02C39A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165" name="TextBox 1"/>
          <p:cNvSpPr/>
          <p:nvPr/>
        </p:nvSpPr>
        <p:spPr>
          <a:xfrm xmlns:a="http://schemas.openxmlformats.org/drawingml/2006/main">
            <a:off x="720000" y="720000"/>
            <a:ext cx="108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66" name="TextBox 2"/>
          <p:cNvSpPr/>
          <p:nvPr/>
        </p:nvSpPr>
        <p:spPr>
          <a:xfrm xmlns:a="http://schemas.openxmlformats.org/drawingml/2006/main">
            <a:off x="10080000" y="5040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67" name="TextBox 3"/>
          <p:cNvSpPr txBox="1"/>
          <p:nvPr/>
        </p:nvSpPr>
        <p:spPr>
          <a:xfrm xmlns:a="http://schemas.openxmlformats.org/drawingml/2006/main">
            <a:off x="9900000" y="5040000"/>
            <a:ext cx="180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🐢</a:t>
            </a:r>
          </a:p>
        </p:txBody>
      </p:sp>
      <p:sp>
        <p:nvSpPr>
          <p:cNvPr id="10168" name="TextBox 4"/>
          <p:cNvSpPr txBox="1"/>
          <p:nvPr/>
        </p:nvSpPr>
        <p:spPr>
          <a:xfrm xmlns:a="http://schemas.openxmlformats.org/drawingml/2006/main">
            <a:off x="720000" y="1800000"/>
            <a:ext cx="1075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FFFFF"/>
                </a:solidFill>
                <a:latin typeface="Trebuchet MS"/>
                <a:ea typeface="Trebuchet MS"/>
              </a:rPr>
              <a:t>真正的善良</a:t>
            </a:r>
          </a:p>
        </p:txBody>
      </p:sp>
      <p:sp>
        <p:nvSpPr>
          <p:cNvPr id="10169" name="TextBox 5"/>
          <p:cNvSpPr txBox="1"/>
          <p:nvPr/>
        </p:nvSpPr>
        <p:spPr>
          <a:xfrm xmlns:a="http://schemas.openxmlformats.org/drawingml/2006/main">
            <a:off x="720000" y="2880000"/>
            <a:ext cx="1075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600" b="1">
                <a:solidFill>
                  <a:srgbClr val="F4A261"/>
                </a:solidFill>
                <a:latin typeface="Trebuchet MS"/>
                <a:ea typeface="Trebuchet MS"/>
              </a:rPr>
              <a:t>是想清楚再做</a:t>
            </a:r>
          </a:p>
        </p:txBody>
      </p:sp>
      <p:sp>
        <p:nvSpPr>
          <p:cNvPr id="10170" name="TextBox 6"/>
          <p:cNvSpPr/>
          <p:nvPr/>
        </p:nvSpPr>
        <p:spPr>
          <a:xfrm xmlns:a="http://schemas.openxmlformats.org/drawingml/2006/main">
            <a:off x="1440000" y="4320000"/>
            <a:ext cx="93132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71" name="TextBox 7"/>
          <p:cNvSpPr txBox="1"/>
          <p:nvPr/>
        </p:nvSpPr>
        <p:spPr>
          <a:xfrm xmlns:a="http://schemas.openxmlformats.org/drawingml/2006/main">
            <a:off x="1440000" y="4428000"/>
            <a:ext cx="931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028090"/>
                </a:solidFill>
                <a:latin typeface="Trebuchet MS"/>
                <a:ea typeface="Trebuchet MS"/>
              </a:rPr>
              <a:t>🤝 我的小约定</a:t>
            </a:r>
          </a:p>
        </p:txBody>
      </p:sp>
      <p:sp>
        <p:nvSpPr>
          <p:cNvPr id="10172" name="TextBox 8"/>
          <p:cNvSpPr txBox="1"/>
          <p:nvPr/>
        </p:nvSpPr>
        <p:spPr>
          <a:xfrm xmlns:a="http://schemas.openxmlformats.org/drawingml/2006/main">
            <a:off x="1440000" y="5040000"/>
            <a:ext cx="93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2D3B3B"/>
                </a:solidFill>
                <a:latin typeface="Calibri"/>
                <a:ea typeface="Calibri"/>
              </a:rPr>
              <a:t>不随意购买 · 不随意放生 · 把养下的小生命照顾到底</a:t>
            </a:r>
          </a:p>
        </p:txBody>
      </p:sp>
      <p:sp>
        <p:nvSpPr>
          <p:cNvPr id="10173" name="TextBox 9"/>
          <p:cNvSpPr/>
          <p:nvPr/>
        </p:nvSpPr>
        <p:spPr>
          <a:xfrm xmlns:a="http://schemas.openxmlformats.org/drawingml/2006/main">
            <a:off x="720000" y="6120000"/>
            <a:ext cx="10753200" cy="4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74" name="TextBox 10"/>
          <p:cNvSpPr txBox="1"/>
          <p:nvPr/>
        </p:nvSpPr>
        <p:spPr>
          <a:xfrm xmlns:a="http://schemas.openxmlformats.org/drawingml/2006/main">
            <a:off x="720000" y="6120000"/>
            <a:ext cx="107532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谢谢你听完 · 让河流和湿地继续热闹下去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2026-05-22T13:12:22Z</dcterms:created>
  <cp:lastModifiedBy>OfficeCLI</cp:lastModifiedBy>
  <dcterms:modified xsi:type="dcterms:W3CDTF">2026-05-22T13:12:22Z</dcterms:modified>
</cp:coreProperties>
</file>