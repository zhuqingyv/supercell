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8211cd3070d4e7d" /><Relationship Type="http://schemas.openxmlformats.org/package/2006/relationships/metadata/core-properties" Target="/docProps/core.xml" Id="R5a991515b0554ab6" /><Relationship Type="http://schemas.openxmlformats.org/officeDocument/2006/relationships/extended-properties" Target="/docProps/app.xml" Id="Rd1ad66a7cfee44f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79fc65690ab49ca"/>
    <p:sldId id="257" r:id="Rd3aad7af89874a28"/>
    <p:sldId id="258" r:id="Rf43abec6ab2945ff"/>
    <p:sldId id="259" r:id="R2f44182f9791457c"/>
    <p:sldId id="260" r:id="R34077778c67842cc"/>
    <p:sldId id="261" r:id="Rfb4b118979134ba3"/>
    <p:sldId id="262" r:id="Rc430460bda4f4486"/>
    <p:sldId id="263" r:id="Ra624f19f503445a4"/>
    <p:sldId id="264" r:id="R70d273fec32d45e2"/>
    <p:sldId id="265" r:id="Rf630278bddd9447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79fc65690ab49ca" /><Relationship Type="http://schemas.openxmlformats.org/officeDocument/2006/relationships/slide" Target="/ppt/slides/slide2.xml" Id="Rd3aad7af89874a28" /><Relationship Type="http://schemas.openxmlformats.org/officeDocument/2006/relationships/slide" Target="/ppt/slides/slide3.xml" Id="Rf43abec6ab2945ff" /><Relationship Type="http://schemas.openxmlformats.org/officeDocument/2006/relationships/slide" Target="/ppt/slides/slide4.xml" Id="R2f44182f9791457c" /><Relationship Type="http://schemas.openxmlformats.org/officeDocument/2006/relationships/slide" Target="/ppt/slides/slide5.xml" Id="R34077778c67842cc" /><Relationship Type="http://schemas.openxmlformats.org/officeDocument/2006/relationships/slide" Target="/ppt/slides/slide6.xml" Id="Rfb4b118979134ba3" /><Relationship Type="http://schemas.openxmlformats.org/officeDocument/2006/relationships/slide" Target="/ppt/slides/slide7.xml" Id="Rc430460bda4f4486" /><Relationship Type="http://schemas.openxmlformats.org/officeDocument/2006/relationships/slide" Target="/ppt/slides/slide8.xml" Id="Ra624f19f503445a4" /><Relationship Type="http://schemas.openxmlformats.org/officeDocument/2006/relationships/slide" Target="/ppt/slides/slide9.xml" Id="R70d273fec32d45e2" /><Relationship Type="http://schemas.openxmlformats.org/officeDocument/2006/relationships/slide" Target="/ppt/slides/slide10.xml" Id="Rf630278bddd9447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84142874d40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ec55f819348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2ff29e3574e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dc20649eb48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fb36729d84ed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8110df20a244af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8d7da6ca8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0c144741447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dcd102402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66714d521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b4487053e48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9267d798d46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4100f61f47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63ebdbac749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e5b4c8cd40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b54af4ad64e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 txBox="1"/>
          <p:nvPr/>
        </p:nvSpPr>
        <p:spPr>
          <a:xfrm xmlns:a="http://schemas.openxmlformats.org/drawingml/2006/main">
            <a:off x="1800000" y="1980000"/>
            <a:ext cx="86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600" b="1">
                <a:solidFill>
                  <a:srgbClr val="FFFFFF"/>
                </a:solidFill>
              </a:rPr>
              <a:t>Supercell 代码质量报告</a:t>
            </a:r>
          </a:p>
        </p:txBody>
      </p:sp>
      <p:sp>
        <p:nvSpPr>
          <p:cNvPr id="10001" name="TextBox 2"/>
          <p:cNvSpPr txBox="1"/>
          <p:nvPr/>
        </p:nvSpPr>
        <p:spPr>
          <a:xfrm xmlns:a="http://schemas.openxmlformats.org/drawingml/2006/main">
            <a:off x="1800000" y="3420000"/>
            <a:ext cx="86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34D399"/>
                </a:solidFill>
              </a:rPr>
              <a:t>综合评分 7.6 / 10</a:t>
            </a:r>
          </a:p>
        </p:txBody>
      </p:sp>
      <p:sp>
        <p:nvSpPr>
          <p:cNvPr id="10002" name="TextBox 3"/>
          <p:cNvSpPr txBox="1"/>
          <p:nvPr/>
        </p:nvSpPr>
        <p:spPr>
          <a:xfrm xmlns:a="http://schemas.openxmlformats.org/drawingml/2006/main">
            <a:off x="1800000" y="4500000"/>
            <a:ext cx="86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64748B"/>
                </a:solidFill>
              </a:rPr>
              <a:t>2026-05-22 · 自动化代码审计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3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评分总览</a:t>
            </a:r>
          </a:p>
        </p:txBody>
      </p:sp>
      <p:sp>
        <p:nvSpPr>
          <p:cNvPr id="10004" name="TextBox 2"/>
          <p:cNvSpPr txBox="1"/>
          <p:nvPr/>
        </p:nvSpPr>
        <p:spPr>
          <a:xfrm xmlns:a="http://schemas.openxmlformats.org/drawingml/2006/main">
            <a:off x="720000" y="162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4D399"/>
                </a:solidFill>
              </a:rPr>
              <a:t>TypeScript 严格度        9.0 / 10</a:t>
            </a:r>
          </a:p>
        </p:txBody>
      </p:sp>
      <p:sp>
        <p:nvSpPr>
          <p:cNvPr id="10005" name="TextBox 3"/>
          <p:cNvSpPr txBox="1"/>
          <p:nvPr/>
        </p:nvSpPr>
        <p:spPr>
          <a:xfrm xmlns:a="http://schemas.openxmlformats.org/drawingml/2006/main">
            <a:off x="720000" y="216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4D399"/>
                </a:solidFill>
              </a:rPr>
              <a:t>测试覆盖率              8.5 / 10</a:t>
            </a:r>
          </a:p>
        </p:txBody>
      </p:sp>
      <p:sp>
        <p:nvSpPr>
          <p:cNvPr id="10006" name="TextBox 4"/>
          <p:cNvSpPr txBox="1"/>
          <p:nvPr/>
        </p:nvSpPr>
        <p:spPr>
          <a:xfrm xmlns:a="http://schemas.openxmlformats.org/drawingml/2006/main">
            <a:off x="720000" y="270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4D399"/>
                </a:solidFill>
              </a:rPr>
              <a:t>代码组织                8.0 / 10</a:t>
            </a:r>
          </a:p>
        </p:txBody>
      </p:sp>
      <p:sp>
        <p:nvSpPr>
          <p:cNvPr id="10007" name="TextBox 5"/>
          <p:cNvSpPr txBox="1"/>
          <p:nvPr/>
        </p:nvSpPr>
        <p:spPr>
          <a:xfrm xmlns:a="http://schemas.openxmlformats.org/drawingml/2006/main">
            <a:off x="720000" y="324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BBF24"/>
                </a:solidFill>
              </a:rPr>
              <a:t>错误处理                7.5 / 10</a:t>
            </a:r>
          </a:p>
        </p:txBody>
      </p:sp>
      <p:sp>
        <p:nvSpPr>
          <p:cNvPr id="10008" name="TextBox 6"/>
          <p:cNvSpPr txBox="1"/>
          <p:nvPr/>
        </p:nvSpPr>
        <p:spPr>
          <a:xfrm xmlns:a="http://schemas.openxmlformats.org/drawingml/2006/main">
            <a:off x="720000" y="378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BBF24"/>
                </a:solidFill>
              </a:rPr>
              <a:t>依赖管理                7.0 / 10</a:t>
            </a:r>
          </a:p>
        </p:txBody>
      </p:sp>
      <p:sp>
        <p:nvSpPr>
          <p:cNvPr id="10009" name="TextBox 7"/>
          <p:cNvSpPr txBox="1"/>
          <p:nvPr/>
        </p:nvSpPr>
        <p:spPr>
          <a:xfrm xmlns:a="http://schemas.openxmlformats.org/drawingml/2006/main">
            <a:off x="720000" y="432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BBF24"/>
                </a:solidFill>
              </a:rPr>
              <a:t>文档完整度              7.0 / 10</a:t>
            </a:r>
          </a:p>
        </p:txBody>
      </p:sp>
      <p:sp>
        <p:nvSpPr>
          <p:cNvPr id="10010" name="TextBox 8"/>
          <p:cNvSpPr txBox="1"/>
          <p:nvPr/>
        </p:nvSpPr>
        <p:spPr>
          <a:xfrm xmlns:a="http://schemas.openxmlformats.org/drawingml/2006/main">
            <a:off x="720000" y="4860000"/>
            <a:ext cx="1080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F4444"/>
                </a:solidFill>
              </a:rPr>
              <a:t>安全性                  6.5 / 10</a:t>
            </a:r>
          </a:p>
        </p:txBody>
      </p:sp>
      <p:sp>
        <p:nvSpPr>
          <p:cNvPr id="10011" name="TextBox 9"/>
          <p:cNvSpPr txBox="1"/>
          <p:nvPr/>
        </p:nvSpPr>
        <p:spPr>
          <a:xfrm xmlns:a="http://schemas.openxmlformats.org/drawingml/2006/main">
            <a:off x="720000" y="55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94A3B8"/>
                </a:solidFill>
              </a:rPr>
              <a:t>整体状态: 良好，有明确提升空间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亮点: TypeScript 严格模式</a:t>
            </a:r>
          </a:p>
        </p:txBody>
      </p:sp>
      <p:sp>
        <p:nvSpPr>
          <p:cNvPr id="10013" name="TextBox 2"/>
          <p:cNvSpPr txBox="1"/>
          <p:nvPr/>
        </p:nvSpPr>
        <p:spPr>
          <a:xfrm xmlns:a="http://schemas.openxmlformats.org/drawingml/2006/main">
            <a:off x="72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tsconfig 配置</a:t>
            </a:r>
          </a:p>
        </p:txBody>
      </p:sp>
      <p:sp>
        <p:nvSpPr>
          <p:cNvPr id="10014" name="TextBox 3"/>
          <p:cNvSpPr txBox="1"/>
          <p:nvPr/>
        </p:nvSpPr>
        <p:spPr>
          <a:xfrm xmlns:a="http://schemas.openxmlformats.org/drawingml/2006/main">
            <a:off x="720000" y="2160000"/>
            <a:ext cx="504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strict: true — 全量严格检查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noUnusedLocals: true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noUnusedParameters: true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noFallthroughCasesInSwitch: true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noUncheckedSideEffectImports: true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Target: ES2023</a:t>
            </a:r>
          </a:p>
        </p:txBody>
      </p:sp>
      <p:sp>
        <p:nvSpPr>
          <p:cNvPr id="10015" name="TextBox 4"/>
          <p:cNvSpPr txBox="1"/>
          <p:nvPr/>
        </p:nvSpPr>
        <p:spPr>
          <a:xfrm xmlns:a="http://schemas.openxmlformats.org/drawingml/2006/main">
            <a:off x="648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实际表现</a:t>
            </a:r>
          </a:p>
        </p:txBody>
      </p:sp>
      <p:sp>
        <p:nvSpPr>
          <p:cNvPr id="10016" name="TextBox 5"/>
          <p:cNvSpPr txBox="1"/>
          <p:nvPr/>
        </p:nvSpPr>
        <p:spPr>
          <a:xfrm xmlns:a="http://schemas.openxmlformats.org/drawingml/2006/main">
            <a:off x="6480000" y="2160000"/>
            <a:ext cx="504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前端代码零 any 类型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后端仅 3 处 any（有正当理由）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  - duckdb-executor.ts:135 行映射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  - duckdb-executor.ts:161 表名提取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  - routes/datalens.ts:184 动态请求体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类型推断全面，显式标注规范</a:t>
            </a:r>
          </a:p>
        </p:txBody>
      </p:sp>
      <p:sp>
        <p:nvSpPr>
          <p:cNvPr id="10017" name="TextBox 6"/>
          <p:cNvSpPr txBox="1"/>
          <p:nvPr/>
        </p:nvSpPr>
        <p:spPr>
          <a:xfrm xmlns:a="http://schemas.openxmlformats.org/drawingml/2006/main">
            <a:off x="720000" y="522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4D399"/>
                </a:solidFill>
              </a:rPr>
              <a:t>评价: 行业优秀水平，类型安全保障充分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18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亮点: 架构与测试</a:t>
            </a:r>
          </a:p>
        </p:txBody>
      </p:sp>
      <p:sp>
        <p:nvSpPr>
          <p:cNvPr id="10019" name="TextBox 2"/>
          <p:cNvSpPr txBox="1"/>
          <p:nvPr/>
        </p:nvSpPr>
        <p:spPr>
          <a:xfrm xmlns:a="http://schemas.openxmlformats.org/drawingml/2006/main">
            <a:off x="72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清晰的分层架构</a:t>
            </a:r>
          </a:p>
        </p:txBody>
      </p:sp>
      <p:sp>
        <p:nvSpPr>
          <p:cNvPr id="10020" name="TextBox 3"/>
          <p:cNvSpPr txBox="1"/>
          <p:nvPr/>
        </p:nvSpPr>
        <p:spPr>
          <a:xfrm xmlns:a="http://schemas.openxmlformats.org/drawingml/2006/main">
            <a:off x="720000" y="2160000"/>
            <a:ext cx="504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前端: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uikit/ — 可复用 UI 组件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features/ — 业务功能模块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store/ — 状态管理层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service/ — API 调用抽象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createStore/ — Store 工厂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后端: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agents/ — Agent 角色定义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routes/ — Express 路由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db/ — 数据持久化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datalens/ — SQL 管线</a:t>
            </a:r>
          </a:p>
        </p:txBody>
      </p:sp>
      <p:sp>
        <p:nvSpPr>
          <p:cNvPr id="10021" name="TextBox 4"/>
          <p:cNvSpPr txBox="1"/>
          <p:nvPr/>
        </p:nvSpPr>
        <p:spPr>
          <a:xfrm xmlns:a="http://schemas.openxmlformats.org/drawingml/2006/main">
            <a:off x="648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测试覆盖</a:t>
            </a:r>
          </a:p>
        </p:txBody>
      </p:sp>
      <p:sp>
        <p:nvSpPr>
          <p:cNvPr id="10022" name="TextBox 5"/>
          <p:cNvSpPr txBox="1"/>
          <p:nvPr/>
        </p:nvSpPr>
        <p:spPr>
          <a:xfrm xmlns:a="http://schemas.openxmlformats.org/drawingml/2006/main">
            <a:off x="6480000" y="2160000"/>
            <a:ext cx="504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228+ 测试文件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覆盖前端 Store、组件、后端管线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Vitest + Testing Library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正确的测试分层: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- 单元测试 (store, utils)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- 组件测试 (uikit)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- 集成测试 (datalens pipeline)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优秀实践: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store.test.ts — 状态逻辑验证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store-actions.test.ts — Action 隔离测试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datalens/__tests__/ — E2E 管线测试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23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亮点: 设计模式</a:t>
            </a:r>
          </a:p>
        </p:txBody>
      </p:sp>
      <p:sp>
        <p:nvSpPr>
          <p:cNvPr id="10024" name="TextBox 2"/>
          <p:cNvSpPr txBox="1"/>
          <p:nvPr/>
        </p:nvSpPr>
        <p:spPr>
          <a:xfrm xmlns:a="http://schemas.openxmlformats.org/drawingml/2006/main">
            <a:off x="720000" y="1620000"/>
            <a:ext cx="32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A78BFA"/>
                </a:solidFill>
              </a:rPr>
              <a:t>Store 工厂模式</a:t>
            </a:r>
          </a:p>
        </p:txBody>
      </p:sp>
      <p:sp>
        <p:nvSpPr>
          <p:cNvPr id="10025" name="TextBox 3"/>
          <p:cNvSpPr txBox="1"/>
          <p:nvPr/>
        </p:nvSpPr>
        <p:spPr>
          <a:xfrm xmlns:a="http://schemas.openxmlformats.org/drawingml/2006/main">
            <a:off x="720000" y="2160000"/>
            <a:ext cx="32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Zustand + Immer + persist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一体化封装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useSelector 自动 shallow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外部 getState/setState</a:t>
            </a:r>
          </a:p>
        </p:txBody>
      </p:sp>
      <p:sp>
        <p:nvSpPr>
          <p:cNvPr id="10026" name="TextBox 4"/>
          <p:cNvSpPr txBox="1"/>
          <p:nvPr/>
        </p:nvSpPr>
        <p:spPr>
          <a:xfrm xmlns:a="http://schemas.openxmlformats.org/drawingml/2006/main">
            <a:off x="4500000" y="1620000"/>
            <a:ext cx="32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A78BFA"/>
                </a:solidFill>
              </a:rPr>
              <a:t>Agent 编排器</a:t>
            </a:r>
          </a:p>
        </p:txBody>
      </p:sp>
      <p:sp>
        <p:nvSpPr>
          <p:cNvPr id="10027" name="TextBox 5"/>
          <p:cNvSpPr txBox="1"/>
          <p:nvPr/>
        </p:nvSpPr>
        <p:spPr>
          <a:xfrm xmlns:a="http://schemas.openxmlformats.org/drawingml/2006/main">
            <a:off x="4500000" y="2160000"/>
            <a:ext cx="32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BaseAgent 抽象基类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Promise.allSettled 并行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防重入锁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结果缓存 + 历史查询</a:t>
            </a:r>
          </a:p>
        </p:txBody>
      </p:sp>
      <p:sp>
        <p:nvSpPr>
          <p:cNvPr id="10028" name="TextBox 6"/>
          <p:cNvSpPr txBox="1"/>
          <p:nvPr/>
        </p:nvSpPr>
        <p:spPr>
          <a:xfrm xmlns:a="http://schemas.openxmlformats.org/drawingml/2006/main">
            <a:off x="8280000" y="1620000"/>
            <a:ext cx="32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A78BFA"/>
                </a:solidFill>
              </a:rPr>
              <a:t>管线模式</a:t>
            </a:r>
          </a:p>
        </p:txBody>
      </p:sp>
      <p:sp>
        <p:nvSpPr>
          <p:cNvPr id="10029" name="TextBox 7"/>
          <p:cNvSpPr txBox="1"/>
          <p:nvPr/>
        </p:nvSpPr>
        <p:spPr>
          <a:xfrm xmlns:a="http://schemas.openxmlformats.org/drawingml/2006/main">
            <a:off x="8280000" y="2160000"/>
            <a:ext cx="32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DataLens 数据转换链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SQL 安全白名单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Few-shot prompting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自动纠错重试</a:t>
            </a:r>
          </a:p>
        </p:txBody>
      </p:sp>
      <p:sp>
        <p:nvSpPr>
          <p:cNvPr id="10030" name="TextBox 8"/>
          <p:cNvSpPr txBox="1"/>
          <p:nvPr/>
        </p:nvSpPr>
        <p:spPr>
          <a:xfrm xmlns:a="http://schemas.openxmlformats.org/drawingml/2006/main">
            <a:off x="720000" y="432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94A3B8"/>
                </a:solidFill>
              </a:rPr>
              <a:t>其他: Zod 类型安全验证 · react-window 虚拟列表 · useCallback 记忆化 · WAL 模式 SQLite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31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待改进: 大文件 &amp; 代码异味</a:t>
            </a:r>
          </a:p>
        </p:txBody>
      </p:sp>
      <p:sp>
        <p:nvSpPr>
          <p:cNvPr id="10032" name="TextBox 2"/>
          <p:cNvSpPr txBox="1"/>
          <p:nvPr/>
        </p:nvSpPr>
        <p:spPr>
          <a:xfrm xmlns:a="http://schemas.openxmlformats.org/drawingml/2006/main">
            <a:off x="72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BBF24"/>
                </a:solidFill>
              </a:rPr>
              <a:t>文件体量</a:t>
            </a:r>
          </a:p>
        </p:txBody>
      </p:sp>
      <p:sp>
        <p:nvSpPr>
          <p:cNvPr id="10033" name="TextBox 3"/>
          <p:cNvSpPr txBox="1"/>
          <p:nvPr/>
        </p:nvSpPr>
        <p:spPr>
          <a:xfrm xmlns:a="http://schemas.openxmlformats.org/drawingml/2006/main">
            <a:off x="720000" y="2160000"/>
            <a:ext cx="504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App.tsx — 348 行（混合流式逻辑+虚拟列表+UI）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Message/index.tsx — 324 行（markdown+代码+UI 渲染）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db/index.ts — 280 行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text-to-sql.ts — 269 行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routes/agents.ts — 261 行</a:t>
            </a:r>
          </a:p>
        </p:txBody>
      </p:sp>
      <p:sp>
        <p:nvSpPr>
          <p:cNvPr id="10034" name="TextBox 4"/>
          <p:cNvSpPr txBox="1"/>
          <p:nvPr/>
        </p:nvSpPr>
        <p:spPr>
          <a:xfrm xmlns:a="http://schemas.openxmlformats.org/drawingml/2006/main">
            <a:off x="648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BBF24"/>
                </a:solidFill>
              </a:rPr>
              <a:t>代码异味</a:t>
            </a:r>
          </a:p>
        </p:txBody>
      </p:sp>
      <p:sp>
        <p:nvSpPr>
          <p:cNvPr id="10035" name="TextBox 5"/>
          <p:cNvSpPr txBox="1"/>
          <p:nvPr/>
        </p:nvSpPr>
        <p:spPr>
          <a:xfrm xmlns:a="http://schemas.openxmlformats.org/drawingml/2006/main">
            <a:off x="6480000" y="2160000"/>
            <a:ext cx="504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Magic Numbers: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App.tsx:289 itemSize={200}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App.tsx:54 &gt; 100 滚动阈值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App.tsx:157 .slice(0, 20) 截断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静默错误吞没: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App.tsx:148 catch (err) { } 无日志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重复逻辑: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消息过滤代码在 App.tsx 和 store 中重复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深层嵌套回调: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  useSelectorWatch 内 86-176 行</a:t>
            </a:r>
          </a:p>
        </p:txBody>
      </p:sp>
      <p:sp>
        <p:nvSpPr>
          <p:cNvPr id="10036" name="TextBox 6"/>
          <p:cNvSpPr txBox="1"/>
          <p:nvPr/>
        </p:nvSpPr>
        <p:spPr>
          <a:xfrm xmlns:a="http://schemas.openxmlformats.org/drawingml/2006/main">
            <a:off x="720000" y="55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94A3B8"/>
                </a:solidFill>
              </a:rPr>
              <a:t>建议: 提取 useStreamChat hook、定义常量、抽取消息过滤工具函数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37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待改进: 依赖与日志</a:t>
            </a:r>
          </a:p>
        </p:txBody>
      </p:sp>
      <p:sp>
        <p:nvSpPr>
          <p:cNvPr id="10038" name="TextBox 2"/>
          <p:cNvSpPr txBox="1"/>
          <p:nvPr/>
        </p:nvSpPr>
        <p:spPr>
          <a:xfrm xmlns:a="http://schemas.openxmlformats.org/drawingml/2006/main">
            <a:off x="72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BBF24"/>
                </a:solidFill>
              </a:rPr>
              <a:t>过时依赖 (31 个可更新)</a:t>
            </a:r>
          </a:p>
        </p:txBody>
      </p:sp>
      <p:sp>
        <p:nvSpPr>
          <p:cNvPr id="10039" name="TextBox 3"/>
          <p:cNvSpPr txBox="1"/>
          <p:nvPr/>
        </p:nvSpPr>
        <p:spPr>
          <a:xfrm xmlns:a="http://schemas.openxmlformats.org/drawingml/2006/main">
            <a:off x="720000" y="2160000"/>
            <a:ext cx="504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Major 版本落后: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typescript: 5.9.3 → 6.0.3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eslint: 9.39.2 → 10.4.0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@eslint/js: 9.39.2 → 10.0.1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better-sqlite3: 11.10.0 → 12.10.0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风险评估: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无已知安全漏洞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均来自可信来源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better-sqlite3 为原生模块需谨慎升级</a:t>
            </a:r>
          </a:p>
        </p:txBody>
      </p:sp>
      <p:sp>
        <p:nvSpPr>
          <p:cNvPr id="10040" name="TextBox 4"/>
          <p:cNvSpPr txBox="1"/>
          <p:nvPr/>
        </p:nvSpPr>
        <p:spPr>
          <a:xfrm xmlns:a="http://schemas.openxmlformats.org/drawingml/2006/main">
            <a:off x="648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BBF24"/>
                </a:solidFill>
              </a:rPr>
              <a:t>日志系统缺失</a:t>
            </a:r>
          </a:p>
        </p:txBody>
      </p:sp>
      <p:sp>
        <p:nvSpPr>
          <p:cNvPr id="10041" name="TextBox 5"/>
          <p:cNvSpPr txBox="1"/>
          <p:nvPr/>
        </p:nvSpPr>
        <p:spPr>
          <a:xfrm xmlns:a="http://schemas.openxmlformats.org/drawingml/2006/main">
            <a:off x="6480000" y="2160000"/>
            <a:ext cx="504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现状: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后端使用 console.log 裸输出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无结构化日志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无日志级别区分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无请求追踪 ID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建议: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引入 Pino / Winston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按 level 分级 (info/warn/error)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添加 request-id 追踪</a:t>
            </a:r>
          </a:p>
          <a:p xmlns:a="http://schemas.openxmlformats.org/drawingml/2006/main">
            <a:r>
              <a:rPr lang="en-US" sz="1400">
                <a:solidFill>
                  <a:srgbClr val="CBD5E1"/>
                </a:solidFill>
              </a:rPr>
              <a:t>• 生产环境 JSON 格式输出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42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关键问题: 安全隐患</a:t>
            </a:r>
          </a:p>
        </p:txBody>
      </p:sp>
      <p:sp>
        <p:nvSpPr>
          <p:cNvPr id="10043" name="TextBox 2"/>
          <p:cNvSpPr txBox="1"/>
          <p:nvPr/>
        </p:nvSpPr>
        <p:spPr>
          <a:xfrm xmlns:a="http://schemas.openxmlformats.org/drawingml/2006/main">
            <a:off x="72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F4444"/>
                </a:solidFill>
              </a:rPr>
              <a:t>CORS 全开放</a:t>
            </a:r>
          </a:p>
        </p:txBody>
      </p:sp>
      <p:sp>
        <p:nvSpPr>
          <p:cNvPr id="10044" name="TextBox 3"/>
          <p:cNvSpPr txBox="1"/>
          <p:nvPr/>
        </p:nvSpPr>
        <p:spPr>
          <a:xfrm xmlns:a="http://schemas.openxmlformats.org/drawingml/2006/main">
            <a:off x="720000" y="2160000"/>
            <a:ext cx="504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server/index.ts:24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Access-Control-Allow-Origin: "*"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风险: 任意域名可调用 API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影响: 生产环境数据泄露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修复: 配置允许域名白名单</a:t>
            </a:r>
          </a:p>
        </p:txBody>
      </p:sp>
      <p:sp>
        <p:nvSpPr>
          <p:cNvPr id="10045" name="TextBox 4"/>
          <p:cNvSpPr txBox="1"/>
          <p:nvPr/>
        </p:nvSpPr>
        <p:spPr>
          <a:xfrm xmlns:a="http://schemas.openxmlformats.org/drawingml/2006/main">
            <a:off x="6480000" y="16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F4444"/>
                </a:solidFill>
              </a:rPr>
              <a:t>浏览器端 API Key 暴露</a:t>
            </a:r>
          </a:p>
        </p:txBody>
      </p:sp>
      <p:sp>
        <p:nvSpPr>
          <p:cNvPr id="10046" name="TextBox 5"/>
          <p:cNvSpPr txBox="1"/>
          <p:nvPr/>
        </p:nvSpPr>
        <p:spPr>
          <a:xfrm xmlns:a="http://schemas.openxmlformats.org/drawingml/2006/main">
            <a:off x="6480000" y="2160000"/>
            <a:ext cx="504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src/service/index.ts:18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dangerouslyAllowBrowser: true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风险: API Key 在前端可见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影响: 密钥被盗用、产生费用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修复: 所有 LLM 调用走后端代理</a:t>
            </a:r>
          </a:p>
        </p:txBody>
      </p:sp>
      <p:sp>
        <p:nvSpPr>
          <p:cNvPr id="10047" name="TextBox 6"/>
          <p:cNvSpPr txBox="1"/>
          <p:nvPr/>
        </p:nvSpPr>
        <p:spPr>
          <a:xfrm xmlns:a="http://schemas.openxmlformats.org/drawingml/2006/main">
            <a:off x="720000" y="48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34D399"/>
                </a:solidFill>
              </a:rPr>
              <a:t>正面: SQL 注入防护 (isSafeSQL 白名单) + BigInt 安全序列化已就绪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48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改进路线图</a:t>
            </a:r>
          </a:p>
        </p:txBody>
      </p:sp>
      <p:sp>
        <p:nvSpPr>
          <p:cNvPr id="10049" name="TextBox 2"/>
          <p:cNvSpPr txBox="1"/>
          <p:nvPr/>
        </p:nvSpPr>
        <p:spPr>
          <a:xfrm xmlns:a="http://schemas.openxmlformats.org/drawingml/2006/main">
            <a:off x="720000" y="162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F4444"/>
                </a:solidFill>
              </a:rPr>
              <a:t>P0 — 本周</a:t>
            </a:r>
          </a:p>
        </p:txBody>
      </p:sp>
      <p:sp>
        <p:nvSpPr>
          <p:cNvPr id="10050" name="TextBox 3"/>
          <p:cNvSpPr txBox="1"/>
          <p:nvPr/>
        </p:nvSpPr>
        <p:spPr>
          <a:xfrm xmlns:a="http://schemas.openxmlformats.org/drawingml/2006/main">
            <a:off x="720000" y="216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移除 dangerouslyAllowBrowser，LLM 调用全部走后端代理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CORS 配置域名白名单（至少区分 dev/prod）</a:t>
            </a:r>
          </a:p>
        </p:txBody>
      </p:sp>
      <p:sp>
        <p:nvSpPr>
          <p:cNvPr id="10051" name="TextBox 4"/>
          <p:cNvSpPr txBox="1"/>
          <p:nvPr/>
        </p:nvSpPr>
        <p:spPr>
          <a:xfrm xmlns:a="http://schemas.openxmlformats.org/drawingml/2006/main">
            <a:off x="720000" y="324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BBF24"/>
                </a:solidFill>
              </a:rPr>
              <a:t>P1 — 两周内</a:t>
            </a:r>
          </a:p>
        </p:txBody>
      </p:sp>
      <p:sp>
        <p:nvSpPr>
          <p:cNvPr id="10052" name="TextBox 5"/>
          <p:cNvSpPr txBox="1"/>
          <p:nvPr/>
        </p:nvSpPr>
        <p:spPr>
          <a:xfrm xmlns:a="http://schemas.openxmlformats.org/drawingml/2006/main">
            <a:off x="720000" y="378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App.tsx 拆分: 提取 useStreamChat / useAutoScroll hooks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引入 Pino 结构化日志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Magic Numbers 提取为命名常量</a:t>
            </a:r>
          </a:p>
        </p:txBody>
      </p:sp>
      <p:sp>
        <p:nvSpPr>
          <p:cNvPr id="10053" name="TextBox 6"/>
          <p:cNvSpPr txBox="1"/>
          <p:nvPr/>
        </p:nvSpPr>
        <p:spPr>
          <a:xfrm xmlns:a="http://schemas.openxmlformats.org/drawingml/2006/main">
            <a:off x="720000" y="486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8BDF8"/>
                </a:solidFill>
              </a:rPr>
              <a:t>P2 — 一个月内</a:t>
            </a:r>
          </a:p>
        </p:txBody>
      </p:sp>
      <p:sp>
        <p:nvSpPr>
          <p:cNvPr id="10054" name="TextBox 7"/>
          <p:cNvSpPr txBox="1"/>
          <p:nvPr/>
        </p:nvSpPr>
        <p:spPr>
          <a:xfrm xmlns:a="http://schemas.openxmlformats.org/drawingml/2006/main">
            <a:off x="720000" y="540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依赖升级: TypeScript 6.0 + ESLint 10 + better-sqlite3 12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添加请求验证中间件 (Zod schema)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代码重复消除 + React.lazy 懒加载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55" name="TextBox 1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总结</a:t>
            </a:r>
          </a:p>
        </p:txBody>
      </p:sp>
      <p:sp>
        <p:nvSpPr>
          <p:cNvPr id="10056" name="TextBox 2"/>
          <p:cNvSpPr txBox="1"/>
          <p:nvPr/>
        </p:nvSpPr>
        <p:spPr>
          <a:xfrm xmlns:a="http://schemas.openxmlformats.org/drawingml/2006/main">
            <a:off x="1440000" y="162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E2E8F0"/>
                </a:solidFill>
              </a:rPr>
              <a:t>Supercell 代码质量整体良好（7.6/10）</a:t>
            </a:r>
          </a:p>
        </p:txBody>
      </p:sp>
      <p:sp>
        <p:nvSpPr>
          <p:cNvPr id="10057" name="TextBox 3"/>
          <p:cNvSpPr txBox="1"/>
          <p:nvPr/>
        </p:nvSpPr>
        <p:spPr>
          <a:xfrm xmlns:a="http://schemas.openxmlformats.org/drawingml/2006/main">
            <a:off x="720000" y="25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核心优势</a:t>
            </a:r>
          </a:p>
        </p:txBody>
      </p:sp>
      <p:sp>
        <p:nvSpPr>
          <p:cNvPr id="10058" name="TextBox 4"/>
          <p:cNvSpPr txBox="1"/>
          <p:nvPr/>
        </p:nvSpPr>
        <p:spPr>
          <a:xfrm xmlns:a="http://schemas.openxmlformats.org/drawingml/2006/main">
            <a:off x="720000" y="3060000"/>
            <a:ext cx="504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TypeScript strict 全量启用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228+ 测试文件覆盖完善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架构分层清晰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优秀的设计模式运用</a:t>
            </a:r>
          </a:p>
        </p:txBody>
      </p:sp>
      <p:sp>
        <p:nvSpPr>
          <p:cNvPr id="10059" name="TextBox 5"/>
          <p:cNvSpPr txBox="1"/>
          <p:nvPr/>
        </p:nvSpPr>
        <p:spPr>
          <a:xfrm xmlns:a="http://schemas.openxmlformats.org/drawingml/2006/main">
            <a:off x="6480000" y="252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EF4444"/>
                </a:solidFill>
              </a:rPr>
              <a:t>关键风险</a:t>
            </a:r>
          </a:p>
        </p:txBody>
      </p:sp>
      <p:sp>
        <p:nvSpPr>
          <p:cNvPr id="10060" name="TextBox 6"/>
          <p:cNvSpPr txBox="1"/>
          <p:nvPr/>
        </p:nvSpPr>
        <p:spPr>
          <a:xfrm xmlns:a="http://schemas.openxmlformats.org/drawingml/2006/main">
            <a:off x="6480000" y="3060000"/>
            <a:ext cx="504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浏览器端 API Key 暴露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CORS 全开放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大组件待拆分</a:t>
            </a:r>
          </a:p>
          <a:p xmlns:a="http://schemas.openxmlformats.org/drawingml/2006/main">
            <a:r>
              <a:rPr lang="en-US" sz="1500">
                <a:solidFill>
                  <a:srgbClr val="CBD5E1"/>
                </a:solidFill>
              </a:rPr>
              <a:t>• 依赖版本滞后</a:t>
            </a:r>
          </a:p>
        </p:txBody>
      </p:sp>
      <p:sp>
        <p:nvSpPr>
          <p:cNvPr id="10061" name="TextBox 7"/>
          <p:cNvSpPr txBox="1"/>
          <p:nvPr/>
        </p:nvSpPr>
        <p:spPr>
          <a:xfrm xmlns:a="http://schemas.openxmlformats.org/drawingml/2006/main">
            <a:off x="720000" y="540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FBBF24"/>
                </a:solidFill>
              </a:rPr>
              <a:t>结论: 代码基础扎实，安全问题需立即修复，架构可渐进优化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2026-05-22T06:07:38Z</dcterms:created>
  <cp:lastModifiedBy>OfficeCLI</cp:lastModifiedBy>
  <dcterms:modified xsi:type="dcterms:W3CDTF">2026-05-22T06:07:38Z</dcterms:modified>
</cp:coreProperties>
</file>