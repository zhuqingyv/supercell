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4210ad3c4ef4c58" /><Relationship Type="http://schemas.openxmlformats.org/package/2006/relationships/metadata/core-properties" Target="/docProps/core.xml" Id="Rf888a2b36acb4527" /><Relationship Type="http://schemas.openxmlformats.org/officeDocument/2006/relationships/extended-properties" Target="/docProps/app.xml" Id="R845799900afb490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08b3b9d15934dac"/>
    <p:sldId id="257" r:id="R007d9d723d454799"/>
    <p:sldId id="258" r:id="Rc993203a896e4ed5"/>
    <p:sldId id="259" r:id="R83562cfdfea947d3"/>
    <p:sldId id="260" r:id="Rd912a1c2a20f483f"/>
    <p:sldId id="261" r:id="R593b8e9b125e446b"/>
    <p:sldId id="262" r:id="R2e388c1632004172"/>
    <p:sldId id="263" r:id="R9728a351a06d4770"/>
    <p:sldId id="264" r:id="R7150d1bb57f346a0"/>
    <p:sldId id="265" r:id="Rb6e6907a425540e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08b3b9d15934dac" /><Relationship Type="http://schemas.openxmlformats.org/officeDocument/2006/relationships/slide" Target="/ppt/slides/slide2.xml" Id="R007d9d723d454799" /><Relationship Type="http://schemas.openxmlformats.org/officeDocument/2006/relationships/slide" Target="/ppt/slides/slide3.xml" Id="Rc993203a896e4ed5" /><Relationship Type="http://schemas.openxmlformats.org/officeDocument/2006/relationships/slide" Target="/ppt/slides/slide4.xml" Id="R83562cfdfea947d3" /><Relationship Type="http://schemas.openxmlformats.org/officeDocument/2006/relationships/slide" Target="/ppt/slides/slide5.xml" Id="Rd912a1c2a20f483f" /><Relationship Type="http://schemas.openxmlformats.org/officeDocument/2006/relationships/slide" Target="/ppt/slides/slide6.xml" Id="R593b8e9b125e446b" /><Relationship Type="http://schemas.openxmlformats.org/officeDocument/2006/relationships/slide" Target="/ppt/slides/slide7.xml" Id="R2e388c1632004172" /><Relationship Type="http://schemas.openxmlformats.org/officeDocument/2006/relationships/slide" Target="/ppt/slides/slide8.xml" Id="R9728a351a06d4770" /><Relationship Type="http://schemas.openxmlformats.org/officeDocument/2006/relationships/slide" Target="/ppt/slides/slide9.xml" Id="R7150d1bb57f346a0" /><Relationship Type="http://schemas.openxmlformats.org/officeDocument/2006/relationships/slide" Target="/ppt/slides/slide10.xml" Id="Rb6e6907a425540ec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向小朋友打招呼，告诉大家今天我们要一起认识小鸟，并学习怎样去保护它们。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问问小朋友：你最近一次听到鸟叫是什么时候？让大家闭上眼睛回忆一下，再讲三张卡片。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用对比让数字活起来：游隼比汽车还快、北极燕鸥能绕赤道两圈、世界这么多种鸟。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语气柔和但严肃。让小朋友看完每张卡片都问：这是谁造成的？引导他们意识到我们也能改变。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问问小朋友：你家窗外现在还能听到麻雀吗？引发观察现实生活的兴趣。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让每个小朋友选一件本周可以马上行动的事，举手认领。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如果可以提前准备好松果和食材，让小朋友现场体验。挂好后第二天观察有没有小鸟来。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重点强调：野生鸟不是宠物，也不是玩具。我们要用尊重的眼光看待它们。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这是仪式感时间。让小朋友站起来，一起举起右手念承诺。可以发一张承诺卡让他们带回家签名。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留 1 分钟让大家一起对着窗外的天空说一声谢谢。结束。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aa0c1a0334d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afca652d247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fcb9add7847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841a7535944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bb4afc48d4b8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2254b458af34876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f9d22f4c44f2f" /><Relationship Type="http://schemas.openxmlformats.org/officeDocument/2006/relationships/notesSlide" Target="/ppt/notesSlides/notesSlide1.xml" Id="R831cf89a612b40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1fc1356224193" /><Relationship Type="http://schemas.openxmlformats.org/officeDocument/2006/relationships/notesSlide" Target="/ppt/notesSlides/notesSlide2.xml" Id="R9a1458e2d9ff46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d50b681e74d62" /><Relationship Type="http://schemas.openxmlformats.org/officeDocument/2006/relationships/notesSlide" Target="/ppt/notesSlides/notesSlide3.xml" Id="Rc82a4366f59c41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61ffc57264497" /><Relationship Type="http://schemas.openxmlformats.org/officeDocument/2006/relationships/notesSlide" Target="/ppt/notesSlides/notesSlide4.xml" Id="R1c39877efca347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344527cef49ca" /><Relationship Type="http://schemas.openxmlformats.org/officeDocument/2006/relationships/notesSlide" Target="/ppt/notesSlides/notesSlide5.xml" Id="R655ea949cc8f46ec" /><Relationship Type="http://schemas.openxmlformats.org/officeDocument/2006/relationships/chart" Target="/ppt/slides/charts/chart2.xml" Id="R68d52e9595404e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bf7b5c734b4a" /><Relationship Type="http://schemas.openxmlformats.org/officeDocument/2006/relationships/notesSlide" Target="/ppt/notesSlides/notesSlide6.xml" Id="R9becfb403d4b43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1f096030e4548" /><Relationship Type="http://schemas.openxmlformats.org/officeDocument/2006/relationships/notesSlide" Target="/ppt/notesSlides/notesSlide7.xml" Id="R49306a77ab3944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88a824ea4e16" /><Relationship Type="http://schemas.openxmlformats.org/officeDocument/2006/relationships/notesSlide" Target="/ppt/notesSlides/notesSlide8.xml" Id="Raa015c9ac8854f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6eef88823426e" /><Relationship Type="http://schemas.openxmlformats.org/officeDocument/2006/relationships/notesSlide" Target="/ppt/notesSlides/notesSlide9.xml" Id="Rb375dd2cc4534c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c3a357b8e4848" /><Relationship Type="http://schemas.openxmlformats.org/officeDocument/2006/relationships/notesSlide" Target="/ppt/notesSlides/notesSlide10.xml" Id="R476609f5f9a94a84" /></Relationships>
</file>

<file path=ppt/slides/charts/chart2.xml><?xml version="1.0" encoding="utf-8"?>
<c:chartSpace xmlns:a="http://schemas.openxmlformats.org/drawingml/2006/main"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常见鸟类相对数量（2000=100）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2000年</c:v>
          </c:tx>
          <c:spPr>
            <a:solidFill xmlns:a="http://schemas.openxmlformats.org/drawingml/2006/main">
              <a:srgbClr val="97BC62"/>
            </a:solidFill>
          </c:spPr>
          <c:cat>
            <c:strLit>
              <c:ptCount val="4"/>
              <c:pt idx="0">
                <c:v>麻雀</c:v>
              </c:pt>
              <c:pt idx="1">
                <c:v>燕子</c:v>
              </c:pt>
              <c:pt idx="2">
                <c:v>杜鹃</c:v>
              </c:pt>
              <c:pt idx="3">
                <c:v>白鹭</c:v>
              </c:pt>
            </c:strLit>
          </c:cat>
          <c:val>
            <c:numLit>
              <c:formatCode>General</c:formatCode>
              <c:ptCount val="4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</c:numLit>
          </c:val>
        </c:ser>
        <c:ser>
          <c:idx val="1"/>
          <c:order val="1"/>
          <c:tx>
            <c:v>2024年</c:v>
          </c:tx>
          <c:spPr>
            <a:solidFill xmlns:a="http://schemas.openxmlformats.org/drawingml/2006/main">
              <a:srgbClr val="2C5F2D"/>
            </a:solidFill>
          </c:spPr>
          <c:cat>
            <c:strLit>
              <c:ptCount val="4"/>
              <c:pt idx="0">
                <c:v>麻雀</c:v>
              </c:pt>
              <c:pt idx="1">
                <c:v>燕子</c:v>
              </c:pt>
              <c:pt idx="2">
                <c:v>杜鹃</c:v>
              </c:pt>
              <c:pt idx="3">
                <c:v>白鹭</c:v>
              </c:pt>
            </c:str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55</c:v>
              </c:pt>
              <c:pt idx="2">
                <c:v>48</c:v>
              </c:pt>
              <c:pt idx="3">
                <c:v>71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87CEEB"/>
            </a:gs>
            <a:gs pos="100000">
              <a:srgbClr val="4A90D9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" name="Sun"/>
          <p:cNvSpPr/>
          <p:nvPr/>
        </p:nvSpPr>
        <p:spPr>
          <a:xfrm xmlns:a="http://schemas.openxmlformats.org/drawingml/2006/main">
            <a:off x="9720000" y="432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720000" y="720000"/>
            <a:ext cx="1440000" cy="7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1620000" y="900000"/>
            <a:ext cx="1080000" cy="5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3" name="Title"/>
          <p:cNvSpPr txBox="1"/>
          <p:nvPr/>
        </p:nvSpPr>
        <p:spPr>
          <a:xfrm xmlns:a="http://schemas.openxmlformats.org/drawingml/2006/main">
            <a:off x="720000" y="2160000"/>
            <a:ext cx="1075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600" b="1">
                <a:solidFill>
                  <a:srgbClr val="FFFFFF"/>
                </a:solidFill>
                <a:latin typeface="Trebuchet MS"/>
                <a:ea typeface="Trebuchet MS"/>
              </a:rPr>
              <a:t>保护小鸟</a:t>
            </a:r>
          </a:p>
        </p:txBody>
      </p:sp>
      <p:sp>
        <p:nvSpPr>
          <p:cNvPr id="10004" name="TextBox 5"/>
          <p:cNvSpPr txBox="1"/>
          <p:nvPr/>
        </p:nvSpPr>
        <p:spPr>
          <a:xfrm xmlns:a="http://schemas.openxmlformats.org/drawingml/2006/main">
            <a:off x="720000" y="396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>
                <a:solidFill>
                  <a:srgbClr val="FFFFFF"/>
                </a:solidFill>
                <a:latin typeface="Calibri"/>
                <a:ea typeface="Calibri"/>
              </a:rPr>
              <a:t>我们一起来做小鸟的好朋友</a:t>
            </a:r>
          </a:p>
        </p:txBody>
      </p:sp>
      <p:sp>
        <p:nvSpPr>
          <p:cNvPr id="10005" name="TextBox 6"/>
          <p:cNvSpPr/>
          <p:nvPr/>
        </p:nvSpPr>
        <p:spPr>
          <a:xfrm xmlns:a="http://schemas.openxmlformats.org/drawingml/2006/main">
            <a:off x="720000" y="5580000"/>
            <a:ext cx="107532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6" name="TextBox 7"/>
          <p:cNvSpPr txBox="1"/>
          <p:nvPr/>
        </p:nvSpPr>
        <p:spPr>
          <a:xfrm xmlns:a="http://schemas.openxmlformats.org/drawingml/2006/main">
            <a:off x="720000" y="5652000"/>
            <a:ext cx="107532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献给每一个爱大自然的小朋友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" name="Title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2C5F2D"/>
                </a:solidFill>
                <a:latin typeface="Trebuchet MS"/>
                <a:ea typeface="Trebuchet MS"/>
              </a:rPr>
              <a:t>小鸟是大自然的好朋友</a:t>
            </a:r>
          </a:p>
        </p:txBody>
      </p:sp>
      <p:sp>
        <p:nvSpPr>
          <p:cNvPr id="10008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E6B"/>
                </a:solidFill>
                <a:latin typeface="Calibri"/>
                <a:ea typeface="Calibri"/>
              </a:rPr>
              <a:t>它们和我们一起住在地球上，做了好多了不起的事</a:t>
            </a:r>
          </a:p>
        </p:txBody>
      </p:sp>
      <p:sp>
        <p:nvSpPr>
          <p:cNvPr id="10009" name="TextBox 3"/>
          <p:cNvSpPr/>
          <p:nvPr/>
        </p:nvSpPr>
        <p:spPr>
          <a:xfrm xmlns:a="http://schemas.openxmlformats.org/drawingml/2006/main">
            <a:off x="5400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0" name="TextBox 4"/>
          <p:cNvSpPr/>
          <p:nvPr/>
        </p:nvSpPr>
        <p:spPr>
          <a:xfrm xmlns:a="http://schemas.openxmlformats.org/drawingml/2006/main">
            <a:off x="1580400" y="2340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1" name="TextBox 5"/>
          <p:cNvSpPr txBox="1"/>
          <p:nvPr/>
        </p:nvSpPr>
        <p:spPr>
          <a:xfrm xmlns:a="http://schemas.openxmlformats.org/drawingml/2006/main">
            <a:off x="1580400" y="2412000"/>
            <a:ext cx="1440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6000">
                <a:latin typeface="Calibri"/>
                <a:ea typeface="Calibri"/>
              </a:rPr>
              <a:t>🌱</a:t>
            </a:r>
          </a:p>
        </p:txBody>
      </p:sp>
      <p:sp>
        <p:nvSpPr>
          <p:cNvPr id="10012" name="TextBox 6"/>
          <p:cNvSpPr txBox="1"/>
          <p:nvPr/>
        </p:nvSpPr>
        <p:spPr>
          <a:xfrm xmlns:a="http://schemas.openxmlformats.org/drawingml/2006/main">
            <a:off x="648000" y="3960000"/>
            <a:ext cx="33048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播种小能手</a:t>
            </a:r>
          </a:p>
        </p:txBody>
      </p:sp>
      <p:sp>
        <p:nvSpPr>
          <p:cNvPr id="10013" name="TextBox 7"/>
          <p:cNvSpPr txBox="1"/>
          <p:nvPr/>
        </p:nvSpPr>
        <p:spPr>
          <a:xfrm xmlns:a="http://schemas.openxmlformats.org/drawingml/2006/main">
            <a:off x="648000" y="4572000"/>
            <a:ext cx="33048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小鸟把果子里的种子带到很远的地方，森林就这样长出来啦！</a:t>
            </a:r>
          </a:p>
        </p:txBody>
      </p:sp>
      <p:sp>
        <p:nvSpPr>
          <p:cNvPr id="10014" name="TextBox 8"/>
          <p:cNvSpPr/>
          <p:nvPr/>
        </p:nvSpPr>
        <p:spPr>
          <a:xfrm xmlns:a="http://schemas.openxmlformats.org/drawingml/2006/main">
            <a:off x="43344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5" name="TextBox 9"/>
          <p:cNvSpPr/>
          <p:nvPr/>
        </p:nvSpPr>
        <p:spPr>
          <a:xfrm xmlns:a="http://schemas.openxmlformats.org/drawingml/2006/main">
            <a:off x="5374800" y="2340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TextBox 10"/>
          <p:cNvSpPr txBox="1"/>
          <p:nvPr/>
        </p:nvSpPr>
        <p:spPr>
          <a:xfrm xmlns:a="http://schemas.openxmlformats.org/drawingml/2006/main">
            <a:off x="5374800" y="2412000"/>
            <a:ext cx="1440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6000">
                <a:latin typeface="Calibri"/>
                <a:ea typeface="Calibri"/>
              </a:rPr>
              <a:t>🐛</a:t>
            </a:r>
          </a:p>
        </p:txBody>
      </p:sp>
      <p:sp>
        <p:nvSpPr>
          <p:cNvPr id="10017" name="TextBox 11"/>
          <p:cNvSpPr txBox="1"/>
          <p:nvPr/>
        </p:nvSpPr>
        <p:spPr>
          <a:xfrm xmlns:a="http://schemas.openxmlformats.org/drawingml/2006/main">
            <a:off x="4442400" y="3960000"/>
            <a:ext cx="33048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害虫终结者</a:t>
            </a:r>
          </a:p>
        </p:txBody>
      </p:sp>
      <p:sp>
        <p:nvSpPr>
          <p:cNvPr id="10018" name="TextBox 12"/>
          <p:cNvSpPr txBox="1"/>
          <p:nvPr/>
        </p:nvSpPr>
        <p:spPr>
          <a:xfrm xmlns:a="http://schemas.openxmlformats.org/drawingml/2006/main">
            <a:off x="4442400" y="4572000"/>
            <a:ext cx="33048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一只燕子一个夏天能吃掉几十万只小虫子，帮农民伯伯保护庄稼。</a:t>
            </a:r>
          </a:p>
        </p:txBody>
      </p:sp>
      <p:sp>
        <p:nvSpPr>
          <p:cNvPr id="10019" name="TextBox 13"/>
          <p:cNvSpPr/>
          <p:nvPr/>
        </p:nvSpPr>
        <p:spPr>
          <a:xfrm xmlns:a="http://schemas.openxmlformats.org/drawingml/2006/main">
            <a:off x="81288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0" name="TextBox 14"/>
          <p:cNvSpPr/>
          <p:nvPr/>
        </p:nvSpPr>
        <p:spPr>
          <a:xfrm xmlns:a="http://schemas.openxmlformats.org/drawingml/2006/main">
            <a:off x="9169200" y="2340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extBox 15"/>
          <p:cNvSpPr txBox="1"/>
          <p:nvPr/>
        </p:nvSpPr>
        <p:spPr>
          <a:xfrm xmlns:a="http://schemas.openxmlformats.org/drawingml/2006/main">
            <a:off x="9169200" y="2412000"/>
            <a:ext cx="14400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6000">
                <a:latin typeface="Calibri"/>
                <a:ea typeface="Calibri"/>
              </a:rPr>
              <a:t>🎵</a:t>
            </a:r>
          </a:p>
        </p:txBody>
      </p:sp>
      <p:sp>
        <p:nvSpPr>
          <p:cNvPr id="10022" name="TextBox 16"/>
          <p:cNvSpPr txBox="1"/>
          <p:nvPr/>
        </p:nvSpPr>
        <p:spPr>
          <a:xfrm xmlns:a="http://schemas.openxmlformats.org/drawingml/2006/main">
            <a:off x="8236800" y="3960000"/>
            <a:ext cx="33048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自然歌唱家</a:t>
            </a:r>
          </a:p>
        </p:txBody>
      </p:sp>
      <p:sp>
        <p:nvSpPr>
          <p:cNvPr id="10023" name="TextBox 17"/>
          <p:cNvSpPr txBox="1"/>
          <p:nvPr/>
        </p:nvSpPr>
        <p:spPr>
          <a:xfrm xmlns:a="http://schemas.openxmlformats.org/drawingml/2006/main">
            <a:off x="8236800" y="4572000"/>
            <a:ext cx="33048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清晨的鸟叫声叫醒太阳，让世界变得更热闹更好听。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/>
      <p:sp>
        <p:nvSpPr>
          <p:cNvPr id="10024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2C5F2D"/>
                </a:solidFill>
                <a:latin typeface="Trebuchet MS"/>
                <a:ea typeface="Trebuchet MS"/>
              </a:rPr>
              <a:t>小鸟有多神奇？</a:t>
            </a:r>
          </a:p>
        </p:txBody>
      </p:sp>
      <p:sp>
        <p:nvSpPr>
          <p:cNvPr id="10025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E6B"/>
                </a:solidFill>
                <a:latin typeface="Calibri"/>
                <a:ea typeface="Calibri"/>
              </a:rPr>
              <a:t>一些让你惊掉下巴的小鸟数字</a:t>
            </a:r>
          </a:p>
        </p:txBody>
      </p:sp>
      <p:sp>
        <p:nvSpPr>
          <p:cNvPr id="10026" name="TextBox 3"/>
          <p:cNvSpPr/>
          <p:nvPr/>
        </p:nvSpPr>
        <p:spPr>
          <a:xfrm xmlns:a="http://schemas.openxmlformats.org/drawingml/2006/main">
            <a:off x="5400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90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7" name="TextBox 4"/>
          <p:cNvSpPr txBox="1"/>
          <p:nvPr/>
        </p:nvSpPr>
        <p:spPr>
          <a:xfrm xmlns:a="http://schemas.openxmlformats.org/drawingml/2006/main">
            <a:off x="540000" y="2340000"/>
            <a:ext cx="35208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0" b="1">
                <a:solidFill>
                  <a:srgbClr val="FFFFFF"/>
                </a:solidFill>
                <a:latin typeface="Trebuchet MS"/>
                <a:ea typeface="Trebuchet MS"/>
              </a:rPr>
              <a:t>389</a:t>
            </a:r>
          </a:p>
        </p:txBody>
      </p:sp>
      <p:sp>
        <p:nvSpPr>
          <p:cNvPr id="10028" name="TextBox 5"/>
          <p:cNvSpPr txBox="1"/>
          <p:nvPr/>
        </p:nvSpPr>
        <p:spPr>
          <a:xfrm xmlns:a="http://schemas.openxmlformats.org/drawingml/2006/main">
            <a:off x="540000" y="4032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km/h</a:t>
            </a:r>
          </a:p>
        </p:txBody>
      </p:sp>
      <p:sp>
        <p:nvSpPr>
          <p:cNvPr id="10029" name="TextBox 6"/>
          <p:cNvSpPr txBox="1"/>
          <p:nvPr/>
        </p:nvSpPr>
        <p:spPr>
          <a:xfrm xmlns:a="http://schemas.openxmlformats.org/drawingml/2006/main">
            <a:off x="540000" y="4500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🚀 游隼俯冲速度</a:t>
            </a:r>
          </a:p>
        </p:txBody>
      </p:sp>
      <p:sp>
        <p:nvSpPr>
          <p:cNvPr id="10030" name="TextBox 7"/>
          <p:cNvSpPr txBox="1"/>
          <p:nvPr/>
        </p:nvSpPr>
        <p:spPr>
          <a:xfrm xmlns:a="http://schemas.openxmlformats.org/drawingml/2006/main">
            <a:off x="648000" y="5040000"/>
            <a:ext cx="33048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CADCFC"/>
                </a:solidFill>
                <a:latin typeface="Calibri"/>
                <a:ea typeface="Calibri"/>
              </a:rPr>
              <a:t>比高速公路上的汽车还快两倍多</a:t>
            </a:r>
          </a:p>
        </p:txBody>
      </p:sp>
      <p:sp>
        <p:nvSpPr>
          <p:cNvPr id="10031" name="TextBox 8"/>
          <p:cNvSpPr/>
          <p:nvPr/>
        </p:nvSpPr>
        <p:spPr>
          <a:xfrm xmlns:a="http://schemas.openxmlformats.org/drawingml/2006/main">
            <a:off x="43344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2" name="TextBox 9"/>
          <p:cNvSpPr txBox="1"/>
          <p:nvPr/>
        </p:nvSpPr>
        <p:spPr>
          <a:xfrm xmlns:a="http://schemas.openxmlformats.org/drawingml/2006/main">
            <a:off x="4334400" y="2340000"/>
            <a:ext cx="35208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8000" b="1">
                <a:solidFill>
                  <a:srgbClr val="FFFFFF"/>
                </a:solidFill>
                <a:latin typeface="Trebuchet MS"/>
                <a:ea typeface="Trebuchet MS"/>
              </a:rPr>
              <a:t>71000</a:t>
            </a:r>
          </a:p>
        </p:txBody>
      </p:sp>
      <p:sp>
        <p:nvSpPr>
          <p:cNvPr id="10033" name="TextBox 10"/>
          <p:cNvSpPr txBox="1"/>
          <p:nvPr/>
        </p:nvSpPr>
        <p:spPr>
          <a:xfrm xmlns:a="http://schemas.openxmlformats.org/drawingml/2006/main">
            <a:off x="4334400" y="4032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公里 / 一年</a:t>
            </a:r>
          </a:p>
        </p:txBody>
      </p:sp>
      <p:sp>
        <p:nvSpPr>
          <p:cNvPr id="10034" name="TextBox 11"/>
          <p:cNvSpPr txBox="1"/>
          <p:nvPr/>
        </p:nvSpPr>
        <p:spPr>
          <a:xfrm xmlns:a="http://schemas.openxmlformats.org/drawingml/2006/main">
            <a:off x="4334400" y="4500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🌏 北极燕鸥的迁徙</a:t>
            </a:r>
          </a:p>
        </p:txBody>
      </p:sp>
      <p:sp>
        <p:nvSpPr>
          <p:cNvPr id="10035" name="TextBox 12"/>
          <p:cNvSpPr txBox="1"/>
          <p:nvPr/>
        </p:nvSpPr>
        <p:spPr>
          <a:xfrm xmlns:a="http://schemas.openxmlformats.org/drawingml/2006/main">
            <a:off x="4442400" y="5040000"/>
            <a:ext cx="33048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CE5DD"/>
                </a:solidFill>
                <a:latin typeface="Calibri"/>
                <a:ea typeface="Calibri"/>
              </a:rPr>
              <a:t>差不多绕地球赤道两圈！</a:t>
            </a:r>
          </a:p>
        </p:txBody>
      </p:sp>
      <p:sp>
        <p:nvSpPr>
          <p:cNvPr id="10036" name="TextBox 13"/>
          <p:cNvSpPr/>
          <p:nvPr/>
        </p:nvSpPr>
        <p:spPr>
          <a:xfrm xmlns:a="http://schemas.openxmlformats.org/drawingml/2006/main">
            <a:off x="8128800" y="1980000"/>
            <a:ext cx="3520800" cy="396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7" name="TextBox 14"/>
          <p:cNvSpPr txBox="1"/>
          <p:nvPr/>
        </p:nvSpPr>
        <p:spPr>
          <a:xfrm xmlns:a="http://schemas.openxmlformats.org/drawingml/2006/main">
            <a:off x="8128800" y="2340000"/>
            <a:ext cx="35208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FFFFFF"/>
                </a:solidFill>
                <a:latin typeface="Trebuchet MS"/>
                <a:ea typeface="Trebuchet MS"/>
              </a:rPr>
              <a:t>11000+</a:t>
            </a:r>
          </a:p>
        </p:txBody>
      </p:sp>
      <p:sp>
        <p:nvSpPr>
          <p:cNvPr id="10038" name="TextBox 15"/>
          <p:cNvSpPr txBox="1"/>
          <p:nvPr/>
        </p:nvSpPr>
        <p:spPr>
          <a:xfrm xmlns:a="http://schemas.openxmlformats.org/drawingml/2006/main">
            <a:off x="8128800" y="4032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种</a:t>
            </a:r>
          </a:p>
        </p:txBody>
      </p:sp>
      <p:sp>
        <p:nvSpPr>
          <p:cNvPr id="10039" name="TextBox 16"/>
          <p:cNvSpPr txBox="1"/>
          <p:nvPr/>
        </p:nvSpPr>
        <p:spPr>
          <a:xfrm xmlns:a="http://schemas.openxmlformats.org/drawingml/2006/main">
            <a:off x="8128800" y="4500000"/>
            <a:ext cx="35208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🐦 全世界鸟类总数</a:t>
            </a:r>
          </a:p>
        </p:txBody>
      </p:sp>
      <p:sp>
        <p:nvSpPr>
          <p:cNvPr id="10040" name="TextBox 17"/>
          <p:cNvSpPr txBox="1"/>
          <p:nvPr/>
        </p:nvSpPr>
        <p:spPr>
          <a:xfrm xmlns:a="http://schemas.openxmlformats.org/drawingml/2006/main">
            <a:off x="8236800" y="5040000"/>
            <a:ext cx="33048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97BC62"/>
                </a:solidFill>
                <a:latin typeface="Calibri"/>
                <a:ea typeface="Calibri"/>
              </a:rPr>
              <a:t>中国就有 1500 多种住在身边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1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可是… 小鸟有麻烦了</a:t>
            </a:r>
          </a:p>
        </p:txBody>
      </p:sp>
      <p:sp>
        <p:nvSpPr>
          <p:cNvPr id="10042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C7B75"/>
                </a:solidFill>
                <a:latin typeface="Calibri"/>
                <a:ea typeface="Calibri"/>
              </a:rPr>
              <a:t>它们正在面临这些危险</a:t>
            </a:r>
          </a:p>
        </p:txBody>
      </p:sp>
      <p:sp>
        <p:nvSpPr>
          <p:cNvPr id="10043" name="TextBox 3"/>
          <p:cNvSpPr/>
          <p:nvPr/>
        </p:nvSpPr>
        <p:spPr>
          <a:xfrm xmlns:a="http://schemas.openxmlformats.org/drawingml/2006/main">
            <a:off x="540000" y="1620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4" name="TextBox 4"/>
          <p:cNvSpPr txBox="1"/>
          <p:nvPr/>
        </p:nvSpPr>
        <p:spPr>
          <a:xfrm xmlns:a="http://schemas.openxmlformats.org/drawingml/2006/main">
            <a:off x="720000" y="1800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>
                <a:latin typeface="Calibri"/>
                <a:ea typeface="Calibri"/>
              </a:rPr>
              <a:t>🌳</a:t>
            </a:r>
          </a:p>
        </p:txBody>
      </p:sp>
      <p:sp>
        <p:nvSpPr>
          <p:cNvPr id="10045" name="TextBox 5"/>
          <p:cNvSpPr txBox="1"/>
          <p:nvPr/>
        </p:nvSpPr>
        <p:spPr>
          <a:xfrm xmlns:a="http://schemas.openxmlformats.org/drawingml/2006/main">
            <a:off x="1800000" y="1800000"/>
            <a:ext cx="39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</a:rPr>
              <a:t>失去家园</a:t>
            </a:r>
          </a:p>
        </p:txBody>
      </p:sp>
      <p:sp>
        <p:nvSpPr>
          <p:cNvPr id="10046" name="TextBox 6"/>
          <p:cNvSpPr txBox="1"/>
          <p:nvPr/>
        </p:nvSpPr>
        <p:spPr>
          <a:xfrm xmlns:a="http://schemas.openxmlformats.org/drawingml/2006/main">
            <a:off x="1800000" y="244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CE5DD"/>
                </a:solidFill>
                <a:latin typeface="Calibri"/>
                <a:ea typeface="Calibri"/>
              </a:rPr>
              <a:t>森林被砍掉、湿地被填平，小鸟没地方做窝、没地方休息了。</a:t>
            </a:r>
          </a:p>
        </p:txBody>
      </p:sp>
      <p:sp>
        <p:nvSpPr>
          <p:cNvPr id="10047" name="TextBox 7"/>
          <p:cNvSpPr/>
          <p:nvPr/>
        </p:nvSpPr>
        <p:spPr>
          <a:xfrm xmlns:a="http://schemas.openxmlformats.org/drawingml/2006/main">
            <a:off x="6278400" y="1620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48" name="TextBox 8"/>
          <p:cNvSpPr txBox="1"/>
          <p:nvPr/>
        </p:nvSpPr>
        <p:spPr>
          <a:xfrm xmlns:a="http://schemas.openxmlformats.org/drawingml/2006/main">
            <a:off x="6458400" y="1800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>
                <a:latin typeface="Calibri"/>
                <a:ea typeface="Calibri"/>
              </a:rPr>
              <a:t>🪟</a:t>
            </a:r>
          </a:p>
        </p:txBody>
      </p:sp>
      <p:sp>
        <p:nvSpPr>
          <p:cNvPr id="10049" name="TextBox 9"/>
          <p:cNvSpPr txBox="1"/>
          <p:nvPr/>
        </p:nvSpPr>
        <p:spPr>
          <a:xfrm xmlns:a="http://schemas.openxmlformats.org/drawingml/2006/main">
            <a:off x="7538400" y="1800000"/>
            <a:ext cx="39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</a:rPr>
              <a:t>撞到玻璃窗</a:t>
            </a:r>
          </a:p>
        </p:txBody>
      </p:sp>
      <p:sp>
        <p:nvSpPr>
          <p:cNvPr id="10050" name="TextBox 10"/>
          <p:cNvSpPr txBox="1"/>
          <p:nvPr/>
        </p:nvSpPr>
        <p:spPr>
          <a:xfrm xmlns:a="http://schemas.openxmlformats.org/drawingml/2006/main">
            <a:off x="7538400" y="2448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ADCFC"/>
                </a:solidFill>
                <a:latin typeface="Calibri"/>
                <a:ea typeface="Calibri"/>
              </a:rPr>
              <a:t>高楼的玻璃倒映着天空，小鸟以为可以飞过去，结果撞晕了。</a:t>
            </a:r>
          </a:p>
        </p:txBody>
      </p:sp>
      <p:sp>
        <p:nvSpPr>
          <p:cNvPr id="10051" name="TextBox 11"/>
          <p:cNvSpPr/>
          <p:nvPr/>
        </p:nvSpPr>
        <p:spPr>
          <a:xfrm xmlns:a="http://schemas.openxmlformats.org/drawingml/2006/main">
            <a:off x="540000" y="4176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2" name="TextBox 12"/>
          <p:cNvSpPr txBox="1"/>
          <p:nvPr/>
        </p:nvSpPr>
        <p:spPr>
          <a:xfrm xmlns:a="http://schemas.openxmlformats.org/drawingml/2006/main">
            <a:off x="720000" y="4356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>
                <a:latin typeface="Calibri"/>
                <a:ea typeface="Calibri"/>
              </a:rPr>
              <a:t>🛍</a:t>
            </a:r>
          </a:p>
        </p:txBody>
      </p:sp>
      <p:sp>
        <p:nvSpPr>
          <p:cNvPr id="10053" name="TextBox 13"/>
          <p:cNvSpPr txBox="1"/>
          <p:nvPr/>
        </p:nvSpPr>
        <p:spPr>
          <a:xfrm xmlns:a="http://schemas.openxmlformats.org/drawingml/2006/main">
            <a:off x="1800000" y="4356000"/>
            <a:ext cx="39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</a:rPr>
              <a:t>塑料和垃圾</a:t>
            </a:r>
          </a:p>
        </p:txBody>
      </p:sp>
      <p:sp>
        <p:nvSpPr>
          <p:cNvPr id="10054" name="TextBox 14"/>
          <p:cNvSpPr txBox="1"/>
          <p:nvPr/>
        </p:nvSpPr>
        <p:spPr>
          <a:xfrm xmlns:a="http://schemas.openxmlformats.org/drawingml/2006/main">
            <a:off x="1800000" y="5004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海鸟把塑料碎片当成食物吃掉，肚子里全是垃圾，会生病。</a:t>
            </a:r>
          </a:p>
        </p:txBody>
      </p:sp>
      <p:sp>
        <p:nvSpPr>
          <p:cNvPr id="10055" name="TextBox 15"/>
          <p:cNvSpPr/>
          <p:nvPr/>
        </p:nvSpPr>
        <p:spPr>
          <a:xfrm xmlns:a="http://schemas.openxmlformats.org/drawingml/2006/main">
            <a:off x="6278400" y="4176000"/>
            <a:ext cx="5378400" cy="23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56" name="TextBox 16"/>
          <p:cNvSpPr txBox="1"/>
          <p:nvPr/>
        </p:nvSpPr>
        <p:spPr>
          <a:xfrm xmlns:a="http://schemas.openxmlformats.org/drawingml/2006/main">
            <a:off x="6458400" y="4356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800">
                <a:latin typeface="Calibri"/>
                <a:ea typeface="Calibri"/>
              </a:rPr>
              <a:t>🪤</a:t>
            </a:r>
          </a:p>
        </p:txBody>
      </p:sp>
      <p:sp>
        <p:nvSpPr>
          <p:cNvPr id="10057" name="TextBox 17"/>
          <p:cNvSpPr txBox="1"/>
          <p:nvPr/>
        </p:nvSpPr>
        <p:spPr>
          <a:xfrm xmlns:a="http://schemas.openxmlformats.org/drawingml/2006/main">
            <a:off x="7538400" y="4356000"/>
            <a:ext cx="39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FFFFFF"/>
                </a:solidFill>
                <a:latin typeface="Trebuchet MS"/>
                <a:ea typeface="Trebuchet MS"/>
              </a:rPr>
              <a:t>被偷捕</a:t>
            </a:r>
          </a:p>
        </p:txBody>
      </p:sp>
      <p:sp>
        <p:nvSpPr>
          <p:cNvPr id="10058" name="TextBox 18"/>
          <p:cNvSpPr txBox="1"/>
          <p:nvPr/>
        </p:nvSpPr>
        <p:spPr>
          <a:xfrm xmlns:a="http://schemas.openxmlformats.org/drawingml/2006/main">
            <a:off x="7538400" y="5004000"/>
            <a:ext cx="3960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坏人用网和笼子抓野生鸟来卖，让它们离开了爸爸妈妈和兄弟姐妹。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c="http://schemas.openxmlformats.org/drawingml/2006/chart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59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2C5F2D"/>
                </a:solidFill>
                <a:latin typeface="Trebuchet MS"/>
                <a:ea typeface="Trebuchet MS"/>
              </a:rPr>
              <a:t>麻雀变少了，你发现了吗？</a:t>
            </a:r>
          </a:p>
        </p:txBody>
      </p:sp>
      <p:sp>
        <p:nvSpPr>
          <p:cNvPr id="10060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E6B"/>
                </a:solidFill>
                <a:latin typeface="Calibri"/>
                <a:ea typeface="Calibri"/>
              </a:rPr>
              <a:t>过去这些年，常见小鸟的数量都在减少</a:t>
            </a:r>
          </a:p>
        </p:txBody>
      </p:sp>
      <p:sp>
        <p:nvSpPr>
          <p:cNvPr id="10062" name="TextBox 3"/>
          <p:cNvSpPr/>
          <p:nvPr/>
        </p:nvSpPr>
        <p:spPr>
          <a:xfrm xmlns:a="http://schemas.openxmlformats.org/drawingml/2006/main">
            <a:off x="8100000" y="1728000"/>
            <a:ext cx="355320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63" name="TextBox 4"/>
          <p:cNvSpPr txBox="1"/>
          <p:nvPr/>
        </p:nvSpPr>
        <p:spPr>
          <a:xfrm xmlns:a="http://schemas.openxmlformats.org/drawingml/2006/main">
            <a:off x="8280000" y="1980000"/>
            <a:ext cx="319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2C5F2D"/>
                </a:solidFill>
                <a:latin typeface="Trebuchet MS"/>
                <a:ea typeface="Trebuchet MS"/>
              </a:rPr>
              <a:t>💡 你知道吗</a:t>
            </a:r>
          </a:p>
        </p:txBody>
      </p:sp>
      <p:sp>
        <p:nvSpPr>
          <p:cNvPr id="10064" name="TextBox 5"/>
          <p:cNvSpPr txBox="1"/>
          <p:nvPr/>
        </p:nvSpPr>
        <p:spPr>
          <a:xfrm xmlns:a="http://schemas.openxmlformats.org/drawingml/2006/main">
            <a:off x="8280000" y="2592000"/>
            <a:ext cx="31932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20年前奶奶的窗台上每天都有麻雀来。</a:t>
            </a:r>
          </a:p>
        </p:txBody>
      </p:sp>
      <p:sp>
        <p:nvSpPr>
          <p:cNvPr id="10065" name="TextBox 6"/>
          <p:cNvSpPr txBox="1"/>
          <p:nvPr/>
        </p:nvSpPr>
        <p:spPr>
          <a:xfrm xmlns:a="http://schemas.openxmlformats.org/drawingml/2006/main">
            <a:off x="8280000" y="3456000"/>
            <a:ext cx="31932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今天，可能要走很久才能听到一声叽喳。</a:t>
            </a:r>
          </a:p>
        </p:txBody>
      </p:sp>
      <p:sp>
        <p:nvSpPr>
          <p:cNvPr id="10066" name="TextBox 7"/>
          <p:cNvSpPr txBox="1"/>
          <p:nvPr/>
        </p:nvSpPr>
        <p:spPr>
          <a:xfrm xmlns:a="http://schemas.openxmlformats.org/drawingml/2006/main">
            <a:off x="8280000" y="4320000"/>
            <a:ext cx="31932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85042"/>
                </a:solidFill>
                <a:latin typeface="Calibri"/>
                <a:ea typeface="Calibri"/>
              </a:rPr>
              <a:t>如果我们不行动，等你们长大，可能再也见不到它们。</a:t>
            </a:r>
          </a:p>
        </p:txBody>
      </p:sp>
      <p:graphicFrame>
        <p:nvGraphicFramePr>
          <p:cNvPr id="10067" name="常见鸟类相对数量（2000=100）"/>
          <p:cNvGraphicFramePr/>
          <p:nvPr/>
        </p:nvGraphicFramePr>
        <p:xfrm>
          <a:off xmlns:a="http://schemas.openxmlformats.org/drawingml/2006/main" x="540000" y="1728000"/>
          <a:ext xmlns:a="http://schemas.openxmlformats.org/drawingml/2006/main" cx="7200000" cy="450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d52e9595404e77"/>
          </a:graphicData>
        </a:graphic>
      </p:graphicFrame>
    </p:spTree>
  </p:cSld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C5F2D"/>
        </a:solidFill>
      </p:bgPr>
    </p:bg>
    <p:spTree>
      <p:nvGrpSpPr>
        <p:cNvPr id="1" name=""/>
        <p:cNvGrpSpPr/>
        <p:nvPr/>
      </p:nvGrpSpPr>
      <p:grpSpPr/>
      <p:sp>
        <p:nvSpPr>
          <p:cNvPr id="10068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我们能做什么？</a:t>
            </a:r>
          </a:p>
        </p:txBody>
      </p:sp>
      <p:sp>
        <p:nvSpPr>
          <p:cNvPr id="10069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97BC62"/>
                </a:solidFill>
                <a:latin typeface="Calibri"/>
                <a:ea typeface="Calibri"/>
              </a:rPr>
              <a:t>5 件每个小朋友都能做到的事</a:t>
            </a:r>
          </a:p>
        </p:txBody>
      </p:sp>
      <p:sp>
        <p:nvSpPr>
          <p:cNvPr id="10072" name="TextBox 3"/>
          <p:cNvSpPr/>
          <p:nvPr/>
        </p:nvSpPr>
        <p:spPr>
          <a:xfrm xmlns:a="http://schemas.openxmlformats.org/drawingml/2006/main">
            <a:off x="540000" y="1800000"/>
            <a:ext cx="207864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3" name="TextBox 4"/>
          <p:cNvSpPr/>
          <p:nvPr/>
        </p:nvSpPr>
        <p:spPr>
          <a:xfrm xmlns:a="http://schemas.openxmlformats.org/drawingml/2006/main">
            <a:off x="540000" y="1980000"/>
            <a:ext cx="2078640" cy="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4" name="TextBox 5"/>
          <p:cNvSpPr/>
          <p:nvPr/>
        </p:nvSpPr>
        <p:spPr>
          <a:xfrm xmlns:a="http://schemas.openxmlformats.org/drawingml/2006/main">
            <a:off x="2617200" y="1800000"/>
            <a:ext cx="207864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5" name="TextBox 6"/>
          <p:cNvSpPr/>
          <p:nvPr/>
        </p:nvSpPr>
        <p:spPr>
          <a:xfrm xmlns:a="http://schemas.openxmlformats.org/drawingml/2006/main">
            <a:off x="2617200" y="1980000"/>
            <a:ext cx="2078640" cy="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6" name="TextBox 7"/>
          <p:cNvSpPr/>
          <p:nvPr/>
        </p:nvSpPr>
        <p:spPr>
          <a:xfrm xmlns:a="http://schemas.openxmlformats.org/drawingml/2006/main">
            <a:off x="4698000" y="1800000"/>
            <a:ext cx="207864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7" name="TextBox 8"/>
          <p:cNvSpPr/>
          <p:nvPr/>
        </p:nvSpPr>
        <p:spPr>
          <a:xfrm xmlns:a="http://schemas.openxmlformats.org/drawingml/2006/main">
            <a:off x="4698000" y="1980000"/>
            <a:ext cx="2078640" cy="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8" name="TextBox 9"/>
          <p:cNvSpPr/>
          <p:nvPr/>
        </p:nvSpPr>
        <p:spPr>
          <a:xfrm xmlns:a="http://schemas.openxmlformats.org/drawingml/2006/main">
            <a:off x="6775200" y="1800000"/>
            <a:ext cx="2078640" cy="4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79" name="TextBox 10"/>
          <p:cNvSpPr/>
          <p:nvPr/>
        </p:nvSpPr>
        <p:spPr>
          <a:xfrm xmlns:a="http://schemas.openxmlformats.org/drawingml/2006/main">
            <a:off x="6775200" y="1980000"/>
            <a:ext cx="2078640" cy="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1" name="TextBox 11"/>
          <p:cNvSpPr/>
          <p:nvPr/>
        </p:nvSpPr>
        <p:spPr>
          <a:xfrm xmlns:a="http://schemas.openxmlformats.org/drawingml/2006/main">
            <a:off x="1620000" y="1908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2" name="TextBox 12"/>
          <p:cNvSpPr txBox="1"/>
          <p:nvPr/>
        </p:nvSpPr>
        <p:spPr>
          <a:xfrm xmlns:a="http://schemas.openxmlformats.org/drawingml/2006/main">
            <a:off x="1620000" y="1944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084" name="TextBox 13"/>
          <p:cNvSpPr txBox="1"/>
          <p:nvPr/>
        </p:nvSpPr>
        <p:spPr>
          <a:xfrm xmlns:a="http://schemas.openxmlformats.org/drawingml/2006/main">
            <a:off x="108000" y="3888000"/>
            <a:ext cx="186264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</p:txBody>
      </p:sp>
      <p:sp>
        <p:nvSpPr>
          <p:cNvPr id="10085" name="TextBox 14"/>
          <p:cNvSpPr txBox="1"/>
          <p:nvPr/>
        </p:nvSpPr>
        <p:spPr>
          <a:xfrm xmlns:a="http://schemas.openxmlformats.org/drawingml/2006/main">
            <a:off x="540000" y="2088000"/>
            <a:ext cx="207864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💧</a:t>
            </a:r>
          </a:p>
        </p:txBody>
      </p:sp>
      <p:sp>
        <p:nvSpPr>
          <p:cNvPr id="10086" name="TextBox 15"/>
          <p:cNvSpPr/>
          <p:nvPr/>
        </p:nvSpPr>
        <p:spPr>
          <a:xfrm xmlns:a="http://schemas.openxmlformats.org/drawingml/2006/main">
            <a:off x="2160000" y="1908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87" name="TextBox 16"/>
          <p:cNvSpPr txBox="1"/>
          <p:nvPr/>
        </p:nvSpPr>
        <p:spPr>
          <a:xfrm xmlns:a="http://schemas.openxmlformats.org/drawingml/2006/main">
            <a:off x="2160000" y="1944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88" name="TextBox 17"/>
          <p:cNvSpPr txBox="1"/>
          <p:nvPr/>
        </p:nvSpPr>
        <p:spPr>
          <a:xfrm xmlns:a="http://schemas.openxmlformats.org/drawingml/2006/main">
            <a:off x="540000" y="3312000"/>
            <a:ext cx="207864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放一碗水</a:t>
            </a:r>
          </a:p>
        </p:txBody>
      </p:sp>
      <p:sp>
        <p:nvSpPr>
          <p:cNvPr id="10089" name="TextBox 18"/>
          <p:cNvSpPr txBox="1"/>
          <p:nvPr/>
        </p:nvSpPr>
        <p:spPr>
          <a:xfrm xmlns:a="http://schemas.openxmlformats.org/drawingml/2006/main">
            <a:off x="648000" y="3888000"/>
            <a:ext cx="186264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夏天阳台或窗台放一碗清水，小鸟来喝水洗澡。</a:t>
            </a:r>
          </a:p>
        </p:txBody>
      </p:sp>
      <p:sp>
        <p:nvSpPr>
          <p:cNvPr id="10090" name="TextBox 19"/>
          <p:cNvSpPr txBox="1"/>
          <p:nvPr/>
        </p:nvSpPr>
        <p:spPr>
          <a:xfrm xmlns:a="http://schemas.openxmlformats.org/drawingml/2006/main">
            <a:off x="2617200" y="2088000"/>
            <a:ext cx="207864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🌻</a:t>
            </a:r>
          </a:p>
        </p:txBody>
      </p:sp>
      <p:sp>
        <p:nvSpPr>
          <p:cNvPr id="10091" name="TextBox 20"/>
          <p:cNvSpPr/>
          <p:nvPr/>
        </p:nvSpPr>
        <p:spPr>
          <a:xfrm xmlns:a="http://schemas.openxmlformats.org/drawingml/2006/main">
            <a:off x="4237200" y="1908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2" name="TextBox 21"/>
          <p:cNvSpPr txBox="1"/>
          <p:nvPr/>
        </p:nvSpPr>
        <p:spPr>
          <a:xfrm xmlns:a="http://schemas.openxmlformats.org/drawingml/2006/main">
            <a:off x="4237200" y="1944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093" name="TextBox 22"/>
          <p:cNvSpPr txBox="1"/>
          <p:nvPr/>
        </p:nvSpPr>
        <p:spPr>
          <a:xfrm xmlns:a="http://schemas.openxmlformats.org/drawingml/2006/main">
            <a:off x="2617200" y="3312000"/>
            <a:ext cx="207864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种向日葵</a:t>
            </a:r>
          </a:p>
        </p:txBody>
      </p:sp>
      <p:sp>
        <p:nvSpPr>
          <p:cNvPr id="10094" name="TextBox 23"/>
          <p:cNvSpPr txBox="1"/>
          <p:nvPr/>
        </p:nvSpPr>
        <p:spPr>
          <a:xfrm xmlns:a="http://schemas.openxmlformats.org/drawingml/2006/main">
            <a:off x="2725200" y="3888000"/>
            <a:ext cx="186264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向日葵种子是麻雀和金翅雀最爱的零食。</a:t>
            </a:r>
          </a:p>
        </p:txBody>
      </p:sp>
      <p:sp>
        <p:nvSpPr>
          <p:cNvPr id="10095" name="TextBox 24"/>
          <p:cNvSpPr txBox="1"/>
          <p:nvPr/>
        </p:nvSpPr>
        <p:spPr>
          <a:xfrm xmlns:a="http://schemas.openxmlformats.org/drawingml/2006/main">
            <a:off x="4698000" y="2088000"/>
            <a:ext cx="207864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🏠</a:t>
            </a:r>
          </a:p>
        </p:txBody>
      </p:sp>
      <p:sp>
        <p:nvSpPr>
          <p:cNvPr id="10096" name="TextBox 25"/>
          <p:cNvSpPr/>
          <p:nvPr/>
        </p:nvSpPr>
        <p:spPr>
          <a:xfrm xmlns:a="http://schemas.openxmlformats.org/drawingml/2006/main">
            <a:off x="6318000" y="1908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97" name="TextBox 26"/>
          <p:cNvSpPr txBox="1"/>
          <p:nvPr/>
        </p:nvSpPr>
        <p:spPr>
          <a:xfrm xmlns:a="http://schemas.openxmlformats.org/drawingml/2006/main">
            <a:off x="6318000" y="1944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</a:p>
        </p:txBody>
      </p:sp>
      <p:sp>
        <p:nvSpPr>
          <p:cNvPr id="10098" name="TextBox 27"/>
          <p:cNvSpPr txBox="1"/>
          <p:nvPr/>
        </p:nvSpPr>
        <p:spPr>
          <a:xfrm xmlns:a="http://schemas.openxmlformats.org/drawingml/2006/main">
            <a:off x="4698000" y="3312000"/>
            <a:ext cx="207864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做小鸟屋</a:t>
            </a:r>
          </a:p>
        </p:txBody>
      </p:sp>
      <p:sp>
        <p:nvSpPr>
          <p:cNvPr id="10099" name="TextBox 28"/>
          <p:cNvSpPr txBox="1"/>
          <p:nvPr/>
        </p:nvSpPr>
        <p:spPr>
          <a:xfrm xmlns:a="http://schemas.openxmlformats.org/drawingml/2006/main">
            <a:off x="4806000" y="3888000"/>
            <a:ext cx="186264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用小木箱、纸盒做一个鸟屋，挂在树上。</a:t>
            </a:r>
          </a:p>
        </p:txBody>
      </p:sp>
      <p:sp>
        <p:nvSpPr>
          <p:cNvPr id="10100" name="TextBox 29"/>
          <p:cNvSpPr txBox="1"/>
          <p:nvPr/>
        </p:nvSpPr>
        <p:spPr>
          <a:xfrm xmlns:a="http://schemas.openxmlformats.org/drawingml/2006/main">
            <a:off x="6775200" y="2088000"/>
            <a:ext cx="207864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7200">
                <a:latin typeface="Calibri"/>
                <a:ea typeface="Calibri"/>
              </a:rPr>
              <a:t>👀</a:t>
            </a:r>
          </a:p>
        </p:txBody>
      </p:sp>
      <p:sp>
        <p:nvSpPr>
          <p:cNvPr id="10101" name="TextBox 30"/>
          <p:cNvSpPr/>
          <p:nvPr/>
        </p:nvSpPr>
        <p:spPr>
          <a:xfrm xmlns:a="http://schemas.openxmlformats.org/drawingml/2006/main">
            <a:off x="8395200" y="1908000"/>
            <a:ext cx="432000" cy="43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02" name="TextBox 31"/>
          <p:cNvSpPr txBox="1"/>
          <p:nvPr/>
        </p:nvSpPr>
        <p:spPr>
          <a:xfrm xmlns:a="http://schemas.openxmlformats.org/drawingml/2006/main">
            <a:off x="8395200" y="1944000"/>
            <a:ext cx="4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5</a:t>
            </a:r>
          </a:p>
        </p:txBody>
      </p:sp>
      <p:sp>
        <p:nvSpPr>
          <p:cNvPr id="10103" name="TextBox 32"/>
          <p:cNvSpPr txBox="1"/>
          <p:nvPr/>
        </p:nvSpPr>
        <p:spPr>
          <a:xfrm xmlns:a="http://schemas.openxmlformats.org/drawingml/2006/main">
            <a:off x="6775200" y="3312000"/>
            <a:ext cx="207864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用眼睛看</a:t>
            </a:r>
          </a:p>
        </p:txBody>
      </p:sp>
      <p:sp>
        <p:nvSpPr>
          <p:cNvPr id="10104" name="TextBox 33"/>
          <p:cNvSpPr txBox="1"/>
          <p:nvPr/>
        </p:nvSpPr>
        <p:spPr>
          <a:xfrm xmlns:a="http://schemas.openxmlformats.org/drawingml/2006/main">
            <a:off x="6883200" y="3888000"/>
            <a:ext cx="186264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用望远镜看小鸟，不抓不摸不打扰。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05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2C5F2D"/>
                </a:solidFill>
                <a:latin typeface="Trebuchet MS"/>
                <a:ea typeface="Trebuchet MS"/>
              </a:rPr>
              <a:t>一起做：松果鸟食喂食器</a:t>
            </a:r>
          </a:p>
        </p:txBody>
      </p:sp>
      <p:sp>
        <p:nvSpPr>
          <p:cNvPr id="10106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6B8E6B"/>
                </a:solidFill>
                <a:latin typeface="Calibri"/>
                <a:ea typeface="Calibri"/>
              </a:rPr>
              <a:t>只要 15 分钟，做完就可以挂到院子里</a:t>
            </a:r>
          </a:p>
        </p:txBody>
      </p:sp>
      <p:sp>
        <p:nvSpPr>
          <p:cNvPr id="10107" name="Step1"/>
          <p:cNvSpPr/>
          <p:nvPr/>
        </p:nvSpPr>
        <p:spPr>
          <a:xfrm xmlns:a="http://schemas.openxmlformats.org/drawingml/2006/main">
            <a:off x="540000" y="2880000"/>
            <a:ext cx="216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08" name="TextBox 4"/>
          <p:cNvSpPr txBox="1"/>
          <p:nvPr/>
        </p:nvSpPr>
        <p:spPr>
          <a:xfrm xmlns:a="http://schemas.openxmlformats.org/drawingml/2006/main">
            <a:off x="540000" y="2988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latin typeface="Calibri"/>
                <a:ea typeface="Calibri"/>
              </a:rPr>
              <a:t>🌲</a:t>
            </a:r>
          </a:p>
        </p:txBody>
      </p:sp>
      <p:sp>
        <p:nvSpPr>
          <p:cNvPr id="10109" name="TextBox 5"/>
          <p:cNvSpPr txBox="1"/>
          <p:nvPr/>
        </p:nvSpPr>
        <p:spPr>
          <a:xfrm xmlns:a="http://schemas.openxmlformats.org/drawingml/2006/main">
            <a:off x="540000" y="3780000"/>
            <a:ext cx="2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找一颗松果</a:t>
            </a:r>
          </a:p>
        </p:txBody>
      </p:sp>
      <p:sp>
        <p:nvSpPr>
          <p:cNvPr id="10110" name="TextBox 6"/>
          <p:cNvSpPr txBox="1"/>
          <p:nvPr/>
        </p:nvSpPr>
        <p:spPr>
          <a:xfrm xmlns:a="http://schemas.openxmlformats.org/drawingml/2006/main">
            <a:off x="540000" y="4392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干燥的、张开的松果</a:t>
            </a:r>
          </a:p>
        </p:txBody>
      </p:sp>
      <p:sp>
        <p:nvSpPr>
          <p:cNvPr id="10111" name="Step2"/>
          <p:cNvSpPr/>
          <p:nvPr/>
        </p:nvSpPr>
        <p:spPr>
          <a:xfrm xmlns:a="http://schemas.openxmlformats.org/drawingml/2006/main">
            <a:off x="3524400" y="2880000"/>
            <a:ext cx="216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A90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2" name="TextBox 8"/>
          <p:cNvSpPr txBox="1"/>
          <p:nvPr/>
        </p:nvSpPr>
        <p:spPr>
          <a:xfrm xmlns:a="http://schemas.openxmlformats.org/drawingml/2006/main">
            <a:off x="3524400" y="2988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latin typeface="Calibri"/>
                <a:ea typeface="Calibri"/>
              </a:rPr>
              <a:t>🥜</a:t>
            </a:r>
          </a:p>
        </p:txBody>
      </p:sp>
      <p:sp>
        <p:nvSpPr>
          <p:cNvPr id="10113" name="TextBox 9"/>
          <p:cNvSpPr txBox="1"/>
          <p:nvPr/>
        </p:nvSpPr>
        <p:spPr>
          <a:xfrm xmlns:a="http://schemas.openxmlformats.org/drawingml/2006/main">
            <a:off x="3524400" y="3780000"/>
            <a:ext cx="2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抹上花生酱</a:t>
            </a:r>
          </a:p>
        </p:txBody>
      </p:sp>
      <p:sp>
        <p:nvSpPr>
          <p:cNvPr id="10114" name="TextBox 10"/>
          <p:cNvSpPr txBox="1"/>
          <p:nvPr/>
        </p:nvSpPr>
        <p:spPr>
          <a:xfrm xmlns:a="http://schemas.openxmlformats.org/drawingml/2006/main">
            <a:off x="3524400" y="4392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均匀涂在缝隙里（请大人帮忙）</a:t>
            </a:r>
          </a:p>
        </p:txBody>
      </p:sp>
      <p:sp>
        <p:nvSpPr>
          <p:cNvPr id="10115" name="Step3"/>
          <p:cNvSpPr/>
          <p:nvPr/>
        </p:nvSpPr>
        <p:spPr>
          <a:xfrm xmlns:a="http://schemas.openxmlformats.org/drawingml/2006/main">
            <a:off x="6508800" y="2880000"/>
            <a:ext cx="216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16" name="TextBox 12"/>
          <p:cNvSpPr txBox="1"/>
          <p:nvPr/>
        </p:nvSpPr>
        <p:spPr>
          <a:xfrm xmlns:a="http://schemas.openxmlformats.org/drawingml/2006/main">
            <a:off x="6508800" y="2988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latin typeface="Calibri"/>
                <a:ea typeface="Calibri"/>
              </a:rPr>
              <a:t>🌾</a:t>
            </a:r>
          </a:p>
        </p:txBody>
      </p:sp>
      <p:sp>
        <p:nvSpPr>
          <p:cNvPr id="10117" name="TextBox 13"/>
          <p:cNvSpPr txBox="1"/>
          <p:nvPr/>
        </p:nvSpPr>
        <p:spPr>
          <a:xfrm xmlns:a="http://schemas.openxmlformats.org/drawingml/2006/main">
            <a:off x="6508800" y="3780000"/>
            <a:ext cx="2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蘸满谷物</a:t>
            </a:r>
          </a:p>
        </p:txBody>
      </p:sp>
      <p:sp>
        <p:nvSpPr>
          <p:cNvPr id="10118" name="TextBox 14"/>
          <p:cNvSpPr txBox="1"/>
          <p:nvPr/>
        </p:nvSpPr>
        <p:spPr>
          <a:xfrm xmlns:a="http://schemas.openxmlformats.org/drawingml/2006/main">
            <a:off x="6508800" y="4392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把松果在小米、谷子里滚一滚</a:t>
            </a:r>
          </a:p>
        </p:txBody>
      </p:sp>
      <p:sp>
        <p:nvSpPr>
          <p:cNvPr id="10119" name="Step4"/>
          <p:cNvSpPr/>
          <p:nvPr/>
        </p:nvSpPr>
        <p:spPr>
          <a:xfrm xmlns:a="http://schemas.openxmlformats.org/drawingml/2006/main">
            <a:off x="9493200" y="2880000"/>
            <a:ext cx="2160000" cy="14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20" name="TextBox 16"/>
          <p:cNvSpPr txBox="1"/>
          <p:nvPr/>
        </p:nvSpPr>
        <p:spPr>
          <a:xfrm xmlns:a="http://schemas.openxmlformats.org/drawingml/2006/main">
            <a:off x="9493200" y="2988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latin typeface="Calibri"/>
                <a:ea typeface="Calibri"/>
              </a:rPr>
              <a:t>🌳</a:t>
            </a:r>
          </a:p>
        </p:txBody>
      </p:sp>
      <p:sp>
        <p:nvSpPr>
          <p:cNvPr id="10121" name="TextBox 17"/>
          <p:cNvSpPr txBox="1"/>
          <p:nvPr/>
        </p:nvSpPr>
        <p:spPr>
          <a:xfrm xmlns:a="http://schemas.openxmlformats.org/drawingml/2006/main">
            <a:off x="9493200" y="3780000"/>
            <a:ext cx="216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挂到树上</a:t>
            </a:r>
          </a:p>
        </p:txBody>
      </p:sp>
      <p:sp>
        <p:nvSpPr>
          <p:cNvPr id="10122" name="TextBox 18"/>
          <p:cNvSpPr txBox="1"/>
          <p:nvPr/>
        </p:nvSpPr>
        <p:spPr>
          <a:xfrm xmlns:a="http://schemas.openxmlformats.org/drawingml/2006/main">
            <a:off x="9493200" y="4392000"/>
            <a:ext cx="21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333333"/>
                </a:solidFill>
                <a:latin typeface="Calibri"/>
                <a:ea typeface="Calibri"/>
              </a:rPr>
              <a:t>用绳子绑好，挂到院里的小树枝上</a:t>
            </a:r>
          </a:p>
        </p:txBody>
      </p:sp>
      <p:sp>
        <p:nvSpPr>
          <p:cNvPr id="10128" name="TextBox 19"/>
          <p:cNvSpPr/>
          <p:nvPr/>
        </p:nvSpPr>
        <p:spPr>
          <a:xfrm xmlns:a="http://schemas.openxmlformats.org/drawingml/2006/main">
            <a:off x="540000" y="266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29" name="TextBox 20"/>
          <p:cNvSpPr txBox="1"/>
          <p:nvPr/>
        </p:nvSpPr>
        <p:spPr>
          <a:xfrm xmlns:a="http://schemas.openxmlformats.org/drawingml/2006/main">
            <a:off x="540000" y="270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1</a:t>
            </a:r>
          </a:p>
        </p:txBody>
      </p:sp>
      <p:sp>
        <p:nvSpPr>
          <p:cNvPr id="10130" name="TextBox 21"/>
          <p:cNvSpPr/>
          <p:nvPr/>
        </p:nvSpPr>
        <p:spPr>
          <a:xfrm xmlns:a="http://schemas.openxmlformats.org/drawingml/2006/main">
            <a:off x="3524400" y="266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1" name="TextBox 22"/>
          <p:cNvSpPr txBox="1"/>
          <p:nvPr/>
        </p:nvSpPr>
        <p:spPr>
          <a:xfrm xmlns:a="http://schemas.openxmlformats.org/drawingml/2006/main">
            <a:off x="3524400" y="270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132" name="TextBox 23"/>
          <p:cNvSpPr/>
          <p:nvPr/>
        </p:nvSpPr>
        <p:spPr>
          <a:xfrm xmlns:a="http://schemas.openxmlformats.org/drawingml/2006/main">
            <a:off x="6508800" y="266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3" name="TextBox 24"/>
          <p:cNvSpPr txBox="1"/>
          <p:nvPr/>
        </p:nvSpPr>
        <p:spPr>
          <a:xfrm xmlns:a="http://schemas.openxmlformats.org/drawingml/2006/main">
            <a:off x="6508800" y="270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3</a:t>
            </a:r>
          </a:p>
        </p:txBody>
      </p:sp>
      <p:sp>
        <p:nvSpPr>
          <p:cNvPr id="10134" name="TextBox 25"/>
          <p:cNvSpPr/>
          <p:nvPr/>
        </p:nvSpPr>
        <p:spPr>
          <a:xfrm xmlns:a="http://schemas.openxmlformats.org/drawingml/2006/main">
            <a:off x="9493200" y="2664000"/>
            <a:ext cx="504000" cy="50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5" name="TextBox 26"/>
          <p:cNvSpPr txBox="1"/>
          <p:nvPr/>
        </p:nvSpPr>
        <p:spPr>
          <a:xfrm xmlns:a="http://schemas.openxmlformats.org/drawingml/2006/main">
            <a:off x="9493200" y="2700000"/>
            <a:ext cx="50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2C5F2D"/>
                </a:solidFill>
                <a:latin typeface="Trebuchet MS"/>
                <a:ea typeface="Trebuchet MS"/>
              </a:rPr>
              <a:t>4</a:t>
            </a:r>
          </a:p>
        </p:txBody>
      </p:sp>
      <p:sp>
        <p:nvSpPr>
          <p:cNvPr id="10181" name="TextBox 27"/>
          <p:cNvSpPr/>
          <p:nvPr/>
        </p:nvSpPr>
        <p:spPr>
          <a:xfrm>
            <a:off x="2700000" y="3420000"/>
            <a:ext cx="824400" cy="360000"/>
          </a:xfrm>
          <a:prstGeom prst="rightArrow">
            <a:avLst/>
          </a:prstGeom>
          <a:solidFill>
            <a:srgbClr val="6B8E6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182" name="TextBox 28"/>
          <p:cNvSpPr/>
          <p:nvPr/>
        </p:nvSpPr>
        <p:spPr>
          <a:xfrm>
            <a:off x="5684400" y="3420000"/>
            <a:ext cx="824400" cy="360000"/>
          </a:xfrm>
          <a:prstGeom prst="rightArrow">
            <a:avLst/>
          </a:prstGeom>
          <a:solidFill>
            <a:srgbClr val="6B8E6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183" name="TextBox 29"/>
          <p:cNvSpPr/>
          <p:nvPr/>
        </p:nvSpPr>
        <p:spPr>
          <a:xfrm>
            <a:off x="8668800" y="3420000"/>
            <a:ext cx="824400" cy="360000"/>
          </a:xfrm>
          <a:prstGeom prst="rightArrow">
            <a:avLst/>
          </a:prstGeom>
          <a:solidFill>
            <a:srgbClr val="6B8E6B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136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B85042"/>
                </a:solidFill>
                <a:latin typeface="Trebuchet MS"/>
                <a:ea typeface="Trebuchet MS"/>
              </a:rPr>
              <a:t>小心，请别这样做</a:t>
            </a:r>
          </a:p>
        </p:txBody>
      </p:sp>
      <p:sp>
        <p:nvSpPr>
          <p:cNvPr id="10137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8C7B75"/>
                </a:solidFill>
                <a:latin typeface="Calibri"/>
                <a:ea typeface="Calibri"/>
              </a:rPr>
              <a:t>左边是会伤害小鸟的事，右边是更好的做法</a:t>
            </a:r>
          </a:p>
        </p:txBody>
      </p:sp>
      <p:sp>
        <p:nvSpPr>
          <p:cNvPr id="10138" name="TextBox 3"/>
          <p:cNvSpPr/>
          <p:nvPr/>
        </p:nvSpPr>
        <p:spPr>
          <a:xfrm xmlns:a="http://schemas.openxmlformats.org/drawingml/2006/main">
            <a:off x="540000" y="1728000"/>
            <a:ext cx="5378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39" name="TextBox 4"/>
          <p:cNvSpPr txBox="1"/>
          <p:nvPr/>
        </p:nvSpPr>
        <p:spPr>
          <a:xfrm xmlns:a="http://schemas.openxmlformats.org/drawingml/2006/main">
            <a:off x="540000" y="1728000"/>
            <a:ext cx="53784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❌ 不要这样做</a:t>
            </a:r>
          </a:p>
        </p:txBody>
      </p:sp>
      <p:sp>
        <p:nvSpPr>
          <p:cNvPr id="10140" name="TextBox 5"/>
          <p:cNvSpPr/>
          <p:nvPr/>
        </p:nvSpPr>
        <p:spPr>
          <a:xfrm xmlns:a="http://schemas.openxmlformats.org/drawingml/2006/main">
            <a:off x="6278400" y="1728000"/>
            <a:ext cx="53784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1" name="TextBox 6"/>
          <p:cNvSpPr txBox="1"/>
          <p:nvPr/>
        </p:nvSpPr>
        <p:spPr>
          <a:xfrm xmlns:a="http://schemas.openxmlformats.org/drawingml/2006/main">
            <a:off x="6278400" y="1728000"/>
            <a:ext cx="53784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Trebuchet MS"/>
                <a:ea typeface="Trebuchet MS"/>
              </a:rPr>
              <a:t>✓ 可以这样做</a:t>
            </a:r>
          </a:p>
        </p:txBody>
      </p:sp>
      <p:sp>
        <p:nvSpPr>
          <p:cNvPr id="10146" name="TextBox 7"/>
          <p:cNvSpPr/>
          <p:nvPr/>
        </p:nvSpPr>
        <p:spPr>
          <a:xfrm xmlns:a="http://schemas.openxmlformats.org/drawingml/2006/main">
            <a:off x="540000" y="2592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5D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7" name="TextBox 8"/>
          <p:cNvSpPr txBox="1"/>
          <p:nvPr/>
        </p:nvSpPr>
        <p:spPr>
          <a:xfrm xmlns:a="http://schemas.openxmlformats.org/drawingml/2006/main">
            <a:off x="720000" y="2592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B85042"/>
                </a:solidFill>
                <a:latin typeface="Calibri"/>
                <a:ea typeface="Calibri"/>
              </a:rPr>
              <a:t>把鸟蛋或小鸟从树上的窝里拿走</a:t>
            </a:r>
          </a:p>
        </p:txBody>
      </p:sp>
      <p:sp>
        <p:nvSpPr>
          <p:cNvPr id="10148" name="TextBox 9"/>
          <p:cNvSpPr/>
          <p:nvPr/>
        </p:nvSpPr>
        <p:spPr>
          <a:xfrm xmlns:a="http://schemas.openxmlformats.org/drawingml/2006/main">
            <a:off x="6278400" y="2592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E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49" name="TextBox 10"/>
          <p:cNvSpPr txBox="1"/>
          <p:nvPr/>
        </p:nvSpPr>
        <p:spPr>
          <a:xfrm xmlns:a="http://schemas.openxmlformats.org/drawingml/2006/main">
            <a:off x="6458400" y="2592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2C5F2D"/>
                </a:solidFill>
                <a:latin typeface="Calibri"/>
                <a:ea typeface="Calibri"/>
              </a:rPr>
              <a:t>看到小鸟窝，远远地观察就好</a:t>
            </a:r>
          </a:p>
        </p:txBody>
      </p:sp>
      <p:sp>
        <p:nvSpPr>
          <p:cNvPr id="10150" name="TextBox 11"/>
          <p:cNvSpPr/>
          <p:nvPr/>
        </p:nvSpPr>
        <p:spPr>
          <a:xfrm xmlns:a="http://schemas.openxmlformats.org/drawingml/2006/main">
            <a:off x="540000" y="3780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5D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1" name="TextBox 12"/>
          <p:cNvSpPr txBox="1"/>
          <p:nvPr/>
        </p:nvSpPr>
        <p:spPr>
          <a:xfrm xmlns:a="http://schemas.openxmlformats.org/drawingml/2006/main">
            <a:off x="720000" y="3780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B85042"/>
                </a:solidFill>
                <a:latin typeface="Calibri"/>
                <a:ea typeface="Calibri"/>
              </a:rPr>
              <a:t>用弹弓、石子打小鸟</a:t>
            </a:r>
          </a:p>
        </p:txBody>
      </p:sp>
      <p:sp>
        <p:nvSpPr>
          <p:cNvPr id="10152" name="TextBox 13"/>
          <p:cNvSpPr/>
          <p:nvPr/>
        </p:nvSpPr>
        <p:spPr>
          <a:xfrm xmlns:a="http://schemas.openxmlformats.org/drawingml/2006/main">
            <a:off x="6278400" y="3780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E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3" name="TextBox 14"/>
          <p:cNvSpPr txBox="1"/>
          <p:nvPr/>
        </p:nvSpPr>
        <p:spPr>
          <a:xfrm xmlns:a="http://schemas.openxmlformats.org/drawingml/2006/main">
            <a:off x="6458400" y="3780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2C5F2D"/>
                </a:solidFill>
                <a:latin typeface="Calibri"/>
                <a:ea typeface="Calibri"/>
              </a:rPr>
              <a:t>用相机拍照，记录小鸟的样子</a:t>
            </a:r>
          </a:p>
        </p:txBody>
      </p:sp>
      <p:sp>
        <p:nvSpPr>
          <p:cNvPr id="10154" name="TextBox 15"/>
          <p:cNvSpPr/>
          <p:nvPr/>
        </p:nvSpPr>
        <p:spPr>
          <a:xfrm xmlns:a="http://schemas.openxmlformats.org/drawingml/2006/main">
            <a:off x="540000" y="6192000"/>
            <a:ext cx="111132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5" name="TextBox 16"/>
          <p:cNvSpPr txBox="1"/>
          <p:nvPr/>
        </p:nvSpPr>
        <p:spPr>
          <a:xfrm xmlns:a="http://schemas.openxmlformats.org/drawingml/2006/main">
            <a:off x="540000" y="6192000"/>
            <a:ext cx="111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记住：野生小鸟最自由的地方，是属于它们的天空</a:t>
            </a:r>
          </a:p>
        </p:txBody>
      </p:sp>
      <p:sp>
        <p:nvSpPr>
          <p:cNvPr id="10156" name="TextBox 17"/>
          <p:cNvSpPr/>
          <p:nvPr/>
        </p:nvSpPr>
        <p:spPr>
          <a:xfrm xmlns:a="http://schemas.openxmlformats.org/drawingml/2006/main">
            <a:off x="540000" y="4968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CE5D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7" name="TextBox 18"/>
          <p:cNvSpPr txBox="1"/>
          <p:nvPr/>
        </p:nvSpPr>
        <p:spPr>
          <a:xfrm xmlns:a="http://schemas.openxmlformats.org/drawingml/2006/main">
            <a:off x="720000" y="4968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B85042"/>
                </a:solidFill>
                <a:latin typeface="Calibri"/>
                <a:ea typeface="Calibri"/>
              </a:rPr>
              <a:t>把抓到的小鸟关进笼子</a:t>
            </a:r>
          </a:p>
        </p:txBody>
      </p:sp>
      <p:sp>
        <p:nvSpPr>
          <p:cNvPr id="10158" name="TextBox 19"/>
          <p:cNvSpPr/>
          <p:nvPr/>
        </p:nvSpPr>
        <p:spPr>
          <a:xfrm xmlns:a="http://schemas.openxmlformats.org/drawingml/2006/main">
            <a:off x="6278400" y="4968000"/>
            <a:ext cx="53784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0E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59" name="TextBox 20"/>
          <p:cNvSpPr txBox="1"/>
          <p:nvPr/>
        </p:nvSpPr>
        <p:spPr>
          <a:xfrm xmlns:a="http://schemas.openxmlformats.org/drawingml/2006/main">
            <a:off x="6458400" y="4968000"/>
            <a:ext cx="50184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2C5F2D"/>
                </a:solidFill>
                <a:latin typeface="Calibri"/>
                <a:ea typeface="Calibri"/>
              </a:rPr>
              <a:t>在窗外放食物，让它们自由地来去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/>
      <p:sp>
        <p:nvSpPr>
          <p:cNvPr id="10160" name="TextBox 1"/>
          <p:cNvSpPr txBox="1"/>
          <p:nvPr/>
        </p:nvSpPr>
        <p:spPr>
          <a:xfrm xmlns:a="http://schemas.openxmlformats.org/drawingml/2006/main">
            <a:off x="54000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2C5F2D"/>
                </a:solidFill>
                <a:latin typeface="Trebuchet MS"/>
                <a:ea typeface="Trebuchet MS"/>
              </a:rPr>
              <a:t>我的护鸟小约定</a:t>
            </a:r>
          </a:p>
        </p:txBody>
      </p:sp>
      <p:sp>
        <p:nvSpPr>
          <p:cNvPr id="10161" name="TextBox 2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6B8E6B"/>
                </a:solidFill>
                <a:latin typeface="Calibri"/>
                <a:ea typeface="Calibri"/>
              </a:rPr>
              <a:t>把右手放在心口，跟老师一起念</a:t>
            </a:r>
          </a:p>
        </p:txBody>
      </p:sp>
      <p:sp>
        <p:nvSpPr>
          <p:cNvPr id="10162" name="TextBox 3"/>
          <p:cNvSpPr/>
          <p:nvPr/>
        </p:nvSpPr>
        <p:spPr>
          <a:xfrm xmlns:a="http://schemas.openxmlformats.org/drawingml/2006/main">
            <a:off x="1440000" y="1800000"/>
            <a:ext cx="93132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3" name="TextBox 4"/>
          <p:cNvSpPr/>
          <p:nvPr/>
        </p:nvSpPr>
        <p:spPr>
          <a:xfrm xmlns:a="http://schemas.openxmlformats.org/drawingml/2006/main">
            <a:off x="5554800" y="1440000"/>
            <a:ext cx="1080000" cy="108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64" name="TextBox 5"/>
          <p:cNvSpPr txBox="1"/>
          <p:nvPr/>
        </p:nvSpPr>
        <p:spPr>
          <a:xfrm xmlns:a="http://schemas.openxmlformats.org/drawingml/2006/main">
            <a:off x="5554800" y="1512000"/>
            <a:ext cx="1080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4400">
                <a:latin typeface="Calibri"/>
                <a:ea typeface="Calibri"/>
              </a:rPr>
              <a:t>🐦</a:t>
            </a:r>
          </a:p>
        </p:txBody>
      </p:sp>
      <p:sp>
        <p:nvSpPr>
          <p:cNvPr id="10165" name="TextBox 6"/>
          <p:cNvSpPr txBox="1"/>
          <p:nvPr/>
        </p:nvSpPr>
        <p:spPr>
          <a:xfrm xmlns:a="http://schemas.openxmlformats.org/drawingml/2006/main">
            <a:off x="1440000" y="2880000"/>
            <a:ext cx="931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2C5F2D"/>
                </a:solidFill>
                <a:latin typeface="Trebuchet MS"/>
                <a:ea typeface="Trebuchet MS"/>
              </a:rPr>
              <a:t>我答应小鸟</a:t>
            </a:r>
          </a:p>
        </p:txBody>
      </p:sp>
      <p:sp>
        <p:nvSpPr>
          <p:cNvPr id="10166" name="TextBox 7"/>
          <p:cNvSpPr txBox="1"/>
          <p:nvPr/>
        </p:nvSpPr>
        <p:spPr>
          <a:xfrm xmlns:a="http://schemas.openxmlformats.org/drawingml/2006/main">
            <a:off x="2880000" y="3600000"/>
            <a:ext cx="64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🌳   不去打扰它们的家</a:t>
            </a:r>
          </a:p>
        </p:txBody>
      </p:sp>
      <p:sp>
        <p:nvSpPr>
          <p:cNvPr id="10167" name="TextBox 8"/>
          <p:cNvSpPr txBox="1"/>
          <p:nvPr/>
        </p:nvSpPr>
        <p:spPr>
          <a:xfrm xmlns:a="http://schemas.openxmlformats.org/drawingml/2006/main">
            <a:off x="2880000" y="4140000"/>
            <a:ext cx="64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🥣   给它们留一点食物和水</a:t>
            </a:r>
          </a:p>
        </p:txBody>
      </p:sp>
      <p:sp>
        <p:nvSpPr>
          <p:cNvPr id="10168" name="TextBox 9"/>
          <p:cNvSpPr txBox="1"/>
          <p:nvPr/>
        </p:nvSpPr>
        <p:spPr>
          <a:xfrm xmlns:a="http://schemas.openxmlformats.org/drawingml/2006/main">
            <a:off x="2880000" y="4680000"/>
            <a:ext cx="64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🚫   不抓、不养、不伤害</a:t>
            </a:r>
          </a:p>
        </p:txBody>
      </p:sp>
      <p:sp>
        <p:nvSpPr>
          <p:cNvPr id="10169" name="TextBox 10"/>
          <p:cNvSpPr txBox="1"/>
          <p:nvPr/>
        </p:nvSpPr>
        <p:spPr>
          <a:xfrm xmlns:a="http://schemas.openxmlformats.org/drawingml/2006/main">
            <a:off x="2880000" y="5220000"/>
            <a:ext cx="648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333333"/>
                </a:solidFill>
                <a:latin typeface="Calibri"/>
                <a:ea typeface="Calibri"/>
              </a:rPr>
              <a:t>📣   把它们的故事告诉更多人</a:t>
            </a:r>
          </a:p>
        </p:txBody>
      </p:sp>
      <p:sp>
        <p:nvSpPr>
          <p:cNvPr id="10170" name="TextBox 11"/>
          <p:cNvSpPr txBox="1"/>
          <p:nvPr/>
        </p:nvSpPr>
        <p:spPr>
          <a:xfrm xmlns:a="http://schemas.openxmlformats.org/drawingml/2006/main">
            <a:off x="1440000" y="5832000"/>
            <a:ext cx="93132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i="1">
                <a:solidFill>
                  <a:srgbClr val="6B8E6B"/>
                </a:solidFill>
                <a:latin typeface="Calibri"/>
                <a:ea typeface="Calibri"/>
              </a:rPr>
              <a:t>小小护鸟员签名：____________________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gradFill xmlns:a="http://schemas.openxmlformats.org/drawingml/2006/main">
          <a:gsLst>
            <a:gs pos="0">
              <a:srgbClr val="87CEEB"/>
            </a:gs>
            <a:gs pos="100000">
              <a:srgbClr val="FFE9B0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171" name="TextBox 1"/>
          <p:cNvSpPr/>
          <p:nvPr/>
        </p:nvSpPr>
        <p:spPr>
          <a:xfrm xmlns:a="http://schemas.openxmlformats.org/drawingml/2006/main">
            <a:off x="720000" y="540000"/>
            <a:ext cx="1440000" cy="14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72" name="TextBox 2"/>
          <p:cNvSpPr txBox="1"/>
          <p:nvPr/>
        </p:nvSpPr>
        <p:spPr>
          <a:xfrm xmlns:a="http://schemas.openxmlformats.org/drawingml/2006/main">
            <a:off x="2880000" y="720000"/>
            <a:ext cx="14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>
                <a:latin typeface="Calibri"/>
                <a:ea typeface="Calibri"/>
              </a:rPr>
              <a:t>🕊</a:t>
            </a:r>
          </a:p>
        </p:txBody>
      </p:sp>
      <p:sp>
        <p:nvSpPr>
          <p:cNvPr id="10173" name="TextBox 3"/>
          <p:cNvSpPr txBox="1"/>
          <p:nvPr/>
        </p:nvSpPr>
        <p:spPr>
          <a:xfrm xmlns:a="http://schemas.openxmlformats.org/drawingml/2006/main">
            <a:off x="5040000" y="1440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000">
                <a:latin typeface="Calibri"/>
                <a:ea typeface="Calibri"/>
              </a:rPr>
              <a:t>🐦</a:t>
            </a:r>
          </a:p>
        </p:txBody>
      </p:sp>
      <p:sp>
        <p:nvSpPr>
          <p:cNvPr id="10174" name="TextBox 4"/>
          <p:cNvSpPr txBox="1"/>
          <p:nvPr/>
        </p:nvSpPr>
        <p:spPr>
          <a:xfrm xmlns:a="http://schemas.openxmlformats.org/drawingml/2006/main">
            <a:off x="7920000" y="900000"/>
            <a:ext cx="144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500">
                <a:latin typeface="Calibri"/>
                <a:ea typeface="Calibri"/>
              </a:rPr>
              <a:t>🕊</a:t>
            </a:r>
          </a:p>
        </p:txBody>
      </p:sp>
      <p:sp>
        <p:nvSpPr>
          <p:cNvPr id="10175" name="TextBox 5"/>
          <p:cNvSpPr txBox="1"/>
          <p:nvPr/>
        </p:nvSpPr>
        <p:spPr>
          <a:xfrm xmlns:a="http://schemas.openxmlformats.org/drawingml/2006/main">
            <a:off x="10080000" y="1620000"/>
            <a:ext cx="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500">
                <a:latin typeface="Calibri"/>
                <a:ea typeface="Calibri"/>
              </a:rPr>
              <a:t>🐦</a:t>
            </a:r>
          </a:p>
        </p:txBody>
      </p:sp>
      <p:sp>
        <p:nvSpPr>
          <p:cNvPr id="10176" name="TextBox 6"/>
          <p:cNvSpPr txBox="1"/>
          <p:nvPr/>
        </p:nvSpPr>
        <p:spPr>
          <a:xfrm xmlns:a="http://schemas.openxmlformats.org/drawingml/2006/main">
            <a:off x="720000" y="2880000"/>
            <a:ext cx="107532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6000" b="1">
                <a:solidFill>
                  <a:srgbClr val="1E2761"/>
                </a:solidFill>
                <a:latin typeface="Trebuchet MS"/>
                <a:ea typeface="Trebuchet MS"/>
              </a:rPr>
              <a:t>天空是它们的家</a:t>
            </a:r>
          </a:p>
        </p:txBody>
      </p:sp>
      <p:sp>
        <p:nvSpPr>
          <p:cNvPr id="10177" name="TextBox 7"/>
          <p:cNvSpPr txBox="1"/>
          <p:nvPr/>
        </p:nvSpPr>
        <p:spPr>
          <a:xfrm xmlns:a="http://schemas.openxmlformats.org/drawingml/2006/main">
            <a:off x="720000" y="3960000"/>
            <a:ext cx="107532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>
                <a:solidFill>
                  <a:srgbClr val="2C5F2D"/>
                </a:solidFill>
                <a:latin typeface="Trebuchet MS"/>
                <a:ea typeface="Trebuchet MS"/>
              </a:rPr>
              <a:t>而你，是它们最棒的小朋友</a:t>
            </a:r>
          </a:p>
        </p:txBody>
      </p:sp>
      <p:sp>
        <p:nvSpPr>
          <p:cNvPr id="10178" name="TextBox 8"/>
          <p:cNvSpPr txBox="1"/>
          <p:nvPr/>
        </p:nvSpPr>
        <p:spPr>
          <a:xfrm xmlns:a="http://schemas.openxmlformats.org/drawingml/2006/main">
            <a:off x="720000" y="5040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B85042"/>
                </a:solidFill>
                <a:latin typeface="Calibri"/>
                <a:ea typeface="Calibri"/>
              </a:rPr>
              <a:t>从今天开始，做一个会爱的小护鸟员吧 💚</a:t>
            </a:r>
          </a:p>
        </p:txBody>
      </p:sp>
      <p:sp>
        <p:nvSpPr>
          <p:cNvPr id="10179" name="TextBox 9"/>
          <p:cNvSpPr/>
          <p:nvPr/>
        </p:nvSpPr>
        <p:spPr>
          <a:xfrm xmlns:a="http://schemas.openxmlformats.org/drawingml/2006/main">
            <a:off x="720000" y="6048000"/>
            <a:ext cx="107532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F2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180" name="TextBox 10"/>
          <p:cNvSpPr txBox="1"/>
          <p:nvPr/>
        </p:nvSpPr>
        <p:spPr>
          <a:xfrm xmlns:a="http://schemas.openxmlformats.org/drawingml/2006/main">
            <a:off x="720000" y="6048000"/>
            <a:ext cx="107532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FFFFFF"/>
                </a:solidFill>
                <a:latin typeface="Calibri"/>
                <a:ea typeface="Calibri"/>
              </a:rPr>
              <a:t>谢谢你听完这个故事 · 让我们一起守护小鸟的天空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OfficeCLI/1.0.96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2026-05-22T12:33:37Z</dcterms:created>
  <cp:lastModifiedBy>OfficeCLI</cp:lastModifiedBy>
  <dcterms:modified xsi:type="dcterms:W3CDTF">2026-05-22T12:33:37Z</dcterms:modified>
</cp:coreProperties>
</file>